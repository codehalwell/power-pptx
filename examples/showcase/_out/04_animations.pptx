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06040"/>
            <a:ext cx="1036289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Inter"/>
              </a:rPr>
              <a:t>Animations in power-pptx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60520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Click to advance — every effect is preset-driven</a:t>
            </a:r>
          </a:p>
        </p:txBody>
      </p:sp>
    </p:spTree>
  </p:cSld>
  <p:clrMapOvr>
    <a:masterClrMapping/>
  </p:clrMapOvr>
  <p:transition xmlns:ns0="http://schemas.microsoft.com/office/powerpoint/2010/main" ns0:dur="1200">
    <ns0:morph/>
  </p:transition>
  <p:timing>
    <p:tnLst>
      <p:par>
        <p:cTn id="1" dur="indefinite" restart="never" nodeType="tmRoot">
          <p:childTnLst>
            <p:par>
              <p:cTn fill="hold" id="2">
                <p:stCondLst>
                  <p:cond delay="indefinite"/>
                </p:stCondLst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fill="hold" id="6">
                <p:stCondLst>
                  <p:cond delay="0"/>
                </p:stCondLst>
                <p:childTnLst>
                  <p:par>
                    <p:cTn id="7" presetID="2" presetClass="entr" presetSubtype="8" fill="hold" grpId="0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Motion origin="parent" path="M 0 1 L 0 0 E" pathEditMode="relative" rAng="0" ptsTypes="AE">
                          <p:cBhvr>
                            <p:cTn id="9" dur="500" fill="hold"/>
                            <p:tgtEl>
                              <p:spTgt spid="3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4F46E5"/>
                </a:solidFill>
                <a:latin typeface="Inter"/>
              </a:rPr>
              <a:t>Per-paragraph reveal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Inter"/>
              </a:rPr>
              <a:t>•  Each bullet enters on its own click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Inter"/>
              </a:rPr>
              <a:t>•  Backed by Trigger.AFTER_PREVIOUS chaining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Inter"/>
              </a:rPr>
              <a:t>•  Works for fade, wipe, zoom, wheel, random-bars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Inter"/>
              </a:rPr>
              <a:t>•  Single API call — no manual timing tree edits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  <p:timing>
    <p:tnLst>
      <p:par>
        <p:cTn id="1" dur="indefinite" restart="never" nodeType="tmRoot">
          <p:childTnLst>
            <p:par>
              <p:cTn fill="hold" id="2">
                <p:stCondLst>
                  <p:cond delay="indefinite"/>
                </p:stCondLst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fill="hold" id="6">
                <p:stCondLst>
                  <p:cond delay="0"/>
                </p:stCondLst>
                <p:childTnLst>
                  <p:par>
                    <p:cTn id="7" presetID="10" presetClass="entr" presetSubtype="0" fill="hold" grpId="0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fill="hold" id="10">
                <p:stCondLst>
                  <p:cond delay="0"/>
                </p:stCondLst>
                <p:childTnLst>
                  <p:par>
                    <p:cTn id="11" presetID="10" presetClass="entr" presetSubtype="0" fill="hold" grpId="0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fill="hold" id="14">
                <p:stCondLst>
                  <p:cond delay="0"/>
                </p:stCondLst>
                <p:childTnLst>
                  <p:par>
                    <p:cTn id="15" presetID="10" presetClass="entr" presetSubtype="0" fill="hold" grpId="0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500"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4F46E5"/>
                </a:solidFill>
                <a:latin typeface="Inter"/>
              </a:rPr>
              <a:t>Emphasis pulse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545738" cy="1737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354573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Inter"/>
              </a:rPr>
              <a:t>42 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35457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35457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Inter"/>
              </a:rPr>
              <a:t>−18%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45920"/>
            <a:ext cx="3545738" cy="1737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22978" y="1874520"/>
            <a:ext cx="354573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Inter"/>
              </a:rPr>
              <a:t>12k/s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2978" y="2651760"/>
            <a:ext cx="35457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2978" y="3017520"/>
            <a:ext cx="35457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Inter"/>
              </a:rPr>
              <a:t>+22%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645920"/>
            <a:ext cx="3545738" cy="1737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97316" y="1874520"/>
            <a:ext cx="354573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Inter"/>
              </a:rPr>
              <a:t>0.04%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7316" y="2651760"/>
            <a:ext cx="35457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7316" y="3017520"/>
            <a:ext cx="35457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Inter"/>
              </a:rPr>
              <a:t>−30%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600" b="1" i="0">
                <a:latin typeface="Inter"/>
              </a:rPr>
              <a:t>Motion path</a:t>
            </a:r>
            <a:endParaRPr sz="3600" b="1" i="0">
              <a:latin typeface="Inter"/>
            </a:endParaRPr>
          </a:p>
        </p:txBody>
      </p:sp>
      <p:sp>
        <p:nvSpPr>
          <p:cNvPr id="3" name="Oval 2"/>
          <p:cNvSpPr/>
          <p:nvPr/>
        </p:nvSpPr>
        <p:spPr>
          <a:xfrm>
            <a:off x="1371600" y="4114800"/>
            <a:ext cx="1371600" cy="13716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rPr/>
              <a:t>Go</a:t>
            </a:r>
          </a:p>
        </p:txBody>
      </p:sp>
    </p:spTree>
  </p:cSld>
  <p:clrMapOvr>
    <a:masterClrMapping/>
  </p:clrMapOvr>
  <p:transition xmlns:ns0="http://schemas.microsoft.com/office/powerpoint/2010/main" ns0:dur="600">
    <p:push/>
  </p:transition>
  <p:timing>
    <p:tnLst>
      <p:par>
        <p:cTn id="1" dur="indefinite" restart="never" nodeType="tmRoot">
          <p:childTnLst>
            <p:par>
              <p:cTn fill="hold" id="2">
                <p:stCondLst>
                  <p:cond delay="indefinite"/>
                </p:stCondLst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fill="hold" id="6">
                <p:stCondLst>
                  <p:cond delay="0"/>
                </p:stCondLst>
                <p:childTnLst>
                  <p:par>
                    <p:cTn id="7" presetID="64" presetClass="path" presetSubtype="0" fill="hold" grpId="0" nodeType="afterEffect">
                      <p:stCondLst>
                        <p:cond delay="0"/>
                      </p:stCondLst>
                      <p:childTnLst>
                        <p:animMotion origin="parent" path="M 0 0 Q 0.300008 -0.240006 0.600015 0 E" pathEditMode="relative" rAng="0" ptsTypes="AE">
                          <p:cBhvr>
                            <p:cTn id="8" dur="2000" fill="hold"/>
                            <p:tgtEl>
                              <p:spTgt spid="3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fill="hold" id="9">
                <p:stCondLst>
                  <p:cond delay="0"/>
                </p:stCondLst>
                <p:childTnLst>
                  <p:par>
                    <p:cTn id="10" presetID="5" presetClass="emph" presetSubtype="0" fill="hold" grpId="0" nodeType="afterEffect">
                      <p:stCondLst>
                        <p:cond delay="0"/>
                      </p:stCondLst>
                      <p:childTnLst>
                        <p:animRot>
                          <p:cBhvr>
                            <p:cTn id="11" dur="1000" fill="hold"/>
                            <p:tgtEl>
                              <p:spTgt spid="3"/>
                            </p:tgtEl>
                          </p:cBhvr>
                          <p:by ang="21600000"/>
                        </p:animRo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