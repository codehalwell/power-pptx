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>
                <a:solidFill>
                  <a:srgbClr val="0F172A"/>
                </a:solidFill>
              </a:defRPr>
            </a:pPr>
            <a:r>
              <a:rPr sz="3000" b="1" i="0">
                <a:latin typeface="Inter"/>
              </a:rPr>
              <a:t>Outer shadow</a:t>
            </a:r>
            <a:endParaRPr sz="3000" b="1" i="0">
              <a:latin typeface="Inter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748B"/>
                </a:solidFill>
              </a:defRPr>
            </a:pPr>
            <a:r>
              <a:t>Three intensities of the same drop shadow.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600" y="2573867"/>
            <a:ext cx="3488165" cy="2692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  <a:effectLst>
            <a:outerShdw blurRad="101600" dist="25400" dir="540000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>
              <a:defRPr sz="2000" b="1">
                <a:solidFill>
                  <a:srgbClr val="0F172A"/>
                </a:solidFill>
                <a:latin typeface="Inter"/>
              </a:defRPr>
            </a:pPr>
            <a:r>
              <a:rPr/>
              <a:t>Subtle</a:t>
            </a:r>
          </a:p>
          <a:p>
            <a:pPr>
              <a:spcBef>
                <a:spcPts val="600"/>
              </a:spcBef>
              <a:defRPr sz="1300">
                <a:solidFill>
                  <a:srgbClr val="475569"/>
                </a:solidFill>
                <a:latin typeface="Inter"/>
              </a:defRPr>
            </a:pPr>
            <a:r>
              <a:t>blur 8 · α 12%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51765" y="2573867"/>
            <a:ext cx="3488165" cy="2692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  <a:effectLst>
            <a:outerShdw blurRad="228600" dist="50800" dir="5400000">
              <a:srgbClr val="0F172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>
              <a:defRPr sz="2000" b="1">
                <a:solidFill>
                  <a:srgbClr val="0F172A"/>
                </a:solidFill>
                <a:latin typeface="Inter"/>
              </a:defRPr>
            </a:pPr>
            <a:r>
              <a:rPr/>
              <a:t>Card</a:t>
            </a:r>
          </a:p>
          <a:p>
            <a:pPr>
              <a:spcBef>
                <a:spcPts val="600"/>
              </a:spcBef>
              <a:defRPr sz="1300">
                <a:solidFill>
                  <a:srgbClr val="475569"/>
                </a:solidFill>
                <a:latin typeface="Inter"/>
              </a:defRPr>
            </a:pPr>
            <a:r>
              <a:t>blur 18 · α 18%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93930" y="2573867"/>
            <a:ext cx="3488165" cy="2692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  <a:effectLst>
            <a:outerShdw blurRad="457200" dist="101600" dir="5400000">
              <a:srgbClr val="0F172A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>
              <a:defRPr sz="2000" b="1">
                <a:solidFill>
                  <a:srgbClr val="0F172A"/>
                </a:solidFill>
                <a:latin typeface="Inter"/>
              </a:defRPr>
            </a:pPr>
            <a:r>
              <a:rPr/>
              <a:t>Hero</a:t>
            </a:r>
          </a:p>
          <a:p>
            <a:pPr>
              <a:spcBef>
                <a:spcPts val="600"/>
              </a:spcBef>
              <a:defRPr sz="1300">
                <a:solidFill>
                  <a:srgbClr val="475569"/>
                </a:solidFill>
                <a:latin typeface="Inter"/>
              </a:defRPr>
            </a:pPr>
            <a:r>
              <a:t>blur 36 · α 28%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>
                <a:solidFill>
                  <a:srgbClr val="0F172A"/>
                </a:solidFill>
              </a:defRPr>
            </a:pPr>
            <a:r>
              <a:rPr sz="3000" b="1" i="0">
                <a:latin typeface="Inter"/>
              </a:rPr>
              <a:t>Glow &amp; soft edges</a:t>
            </a:r>
            <a:endParaRPr sz="3000" b="1" i="0">
              <a:latin typeface="Inter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748B"/>
                </a:solidFill>
              </a:defRPr>
            </a:pPr>
            <a:r>
              <a:t>Useful for badges, callouts, and active states.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600" y="2573867"/>
            <a:ext cx="3488165" cy="2692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  <a:effectLst>
            <a:glow rad="101600">
              <a:srgbClr val="4F46E5"/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>
              <a:defRPr sz="2000" b="1">
                <a:solidFill>
                  <a:srgbClr val="0F172A"/>
                </a:solidFill>
                <a:latin typeface="Inter"/>
              </a:defRPr>
            </a:pPr>
            <a:r>
              <a:rPr/>
              <a:t>Primary glow</a:t>
            </a:r>
          </a:p>
          <a:p>
            <a:pPr>
              <a:spcBef>
                <a:spcPts val="600"/>
              </a:spcBef>
              <a:defRPr sz="1300">
                <a:solidFill>
                  <a:srgbClr val="475569"/>
                </a:solidFill>
                <a:latin typeface="Inter"/>
              </a:defRPr>
            </a:pPr>
            <a:r>
              <a:t>radius 8 · indigo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51765" y="2573867"/>
            <a:ext cx="3488165" cy="2692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  <a:effectLst>
            <a:glow rad="152400">
              <a:srgbClr val="22D3EE"/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>
              <a:defRPr sz="2000" b="1">
                <a:solidFill>
                  <a:srgbClr val="0F172A"/>
                </a:solidFill>
                <a:latin typeface="Inter"/>
              </a:defRPr>
            </a:pPr>
            <a:r>
              <a:rPr/>
              <a:t>Accent glow</a:t>
            </a:r>
          </a:p>
          <a:p>
            <a:pPr>
              <a:spcBef>
                <a:spcPts val="600"/>
              </a:spcBef>
              <a:defRPr sz="1300">
                <a:solidFill>
                  <a:srgbClr val="475569"/>
                </a:solidFill>
                <a:latin typeface="Inter"/>
              </a:defRPr>
            </a:pPr>
            <a:r>
              <a:t>radius 12 · cyan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93930" y="2573867"/>
            <a:ext cx="3488165" cy="2692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  <a:effectLst>
            <a:softEdge rad="762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>
              <a:defRPr sz="2000" b="1">
                <a:solidFill>
                  <a:srgbClr val="0F172A"/>
                </a:solidFill>
                <a:latin typeface="Inter"/>
              </a:defRPr>
            </a:pPr>
            <a:r>
              <a:rPr/>
              <a:t>Soft edges</a:t>
            </a:r>
          </a:p>
          <a:p>
            <a:pPr>
              <a:spcBef>
                <a:spcPts val="600"/>
              </a:spcBef>
              <a:defRPr sz="1300">
                <a:solidFill>
                  <a:srgbClr val="475569"/>
                </a:solidFill>
                <a:latin typeface="Inter"/>
              </a:defRPr>
            </a:pPr>
            <a:r>
              <a:t>soft-edge radius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>
                <a:solidFill>
                  <a:srgbClr val="0F172A"/>
                </a:solidFill>
              </a:defRPr>
            </a:pPr>
            <a:r>
              <a:rPr sz="3000" b="1" i="0">
                <a:latin typeface="Inter"/>
              </a:rPr>
              <a:t>Gradient fills</a:t>
            </a:r>
            <a:endParaRPr sz="3000" b="1" i="0">
              <a:latin typeface="Inter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748B"/>
                </a:solidFill>
              </a:defRPr>
            </a:pPr>
            <a:r>
              <a:t>Linear, radial, and shape gradients via mutable stops.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600" y="2573867"/>
            <a:ext cx="3488165" cy="2692400"/>
          </a:xfrm>
          <a:prstGeom prst="roundRect">
            <a:avLst/>
          </a:prstGeom>
          <a:gradFill rotWithShape="1">
            <a:gsLst>
              <a:gs pos="0">
                <a:srgbClr val="4F46E5"/>
              </a:gs>
              <a:gs pos="100000">
                <a:srgbClr val="22D3EE"/>
              </a:gs>
            </a:gsLst>
            <a:lin scaled="0"/>
          </a:gra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>
              <a:defRPr sz="2000" b="1">
                <a:solidFill>
                  <a:srgbClr val="FFFFFF"/>
                </a:solidFill>
                <a:latin typeface="Inter"/>
              </a:defRPr>
            </a:pPr>
            <a:r>
              <a:rPr/>
              <a:t>Linear</a:t>
            </a:r>
          </a:p>
          <a:p>
            <a:pPr>
              <a:spcBef>
                <a:spcPts val="600"/>
              </a:spcBef>
              <a:defRPr sz="1300">
                <a:solidFill>
                  <a:srgbClr val="FFFFFF"/>
                </a:solidFill>
                <a:latin typeface="Inter"/>
              </a:defRPr>
            </a:pPr>
            <a:r>
              <a:t>indigo → cyan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51765" y="2573867"/>
            <a:ext cx="3488165" cy="2692400"/>
          </a:xfrm>
          <a:prstGeom prst="roundRect">
            <a:avLst/>
          </a:prstGeom>
          <a:gradFill rotWithShape="1">
            <a:gsLst>
              <a:gs pos="0">
                <a:srgbClr val="22D3EE"/>
              </a:gs>
              <a:gs pos="100000">
                <a:srgbClr val="0F172A"/>
              </a:gs>
            </a:gsLst>
            <a:path path="circle"/>
          </a:gra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>
              <a:defRPr sz="2000" b="1">
                <a:solidFill>
                  <a:srgbClr val="FFFFFF"/>
                </a:solidFill>
                <a:latin typeface="Inter"/>
              </a:defRPr>
            </a:pPr>
            <a:r>
              <a:rPr/>
              <a:t>Radial</a:t>
            </a:r>
          </a:p>
          <a:p>
            <a:pPr>
              <a:spcBef>
                <a:spcPts val="600"/>
              </a:spcBef>
              <a:defRPr sz="1300">
                <a:solidFill>
                  <a:srgbClr val="FFFFFF"/>
                </a:solidFill>
                <a:latin typeface="Inter"/>
              </a:defRPr>
            </a:pPr>
            <a:r>
              <a:t>cyan → slate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93930" y="2573867"/>
            <a:ext cx="3488165" cy="2692400"/>
          </a:xfrm>
          <a:prstGeom prst="roundRect">
            <a:avLst/>
          </a:prstGeom>
          <a:gradFill rotWithShape="1">
            <a:gsLst>
              <a:gs pos="0">
                <a:srgbClr val="22D3EE"/>
              </a:gs>
              <a:gs pos="100000">
                <a:srgbClr val="4F46E5"/>
              </a:gs>
            </a:gsLst>
            <a:path path="shape"/>
          </a:gra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>
              <a:defRPr sz="2000" b="1">
                <a:solidFill>
                  <a:srgbClr val="FFFFFF"/>
                </a:solidFill>
                <a:latin typeface="Inter"/>
              </a:defRPr>
            </a:pPr>
            <a:r>
              <a:rPr/>
              <a:t>Shape</a:t>
            </a:r>
          </a:p>
          <a:p>
            <a:pPr>
              <a:spcBef>
                <a:spcPts val="600"/>
              </a:spcBef>
              <a:defRPr sz="1300">
                <a:solidFill>
                  <a:srgbClr val="FFFFFF"/>
                </a:solidFill>
                <a:latin typeface="Inter"/>
              </a:defRPr>
            </a:pPr>
            <a:r>
              <a:t>follows the rectangle path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>
                <a:solidFill>
                  <a:srgbClr val="0F172A"/>
                </a:solidFill>
              </a:defRPr>
            </a:pPr>
            <a:r>
              <a:rPr sz="3000" b="1" i="0">
                <a:latin typeface="Inter"/>
              </a:rPr>
              <a:t>Alpha-tinted fills</a:t>
            </a:r>
            <a:endParaRPr sz="3000" b="1" i="0">
              <a:latin typeface="Inter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748B"/>
                </a:solidFill>
              </a:defRPr>
            </a:pPr>
            <a:r>
              <a:t>Glassy cards over a brand-colored backdrop.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554480"/>
            <a:ext cx="12191695" cy="4572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9600" y="2573867"/>
            <a:ext cx="3488165" cy="2692400"/>
          </a:xfrm>
          <a:prstGeom prst="roundRect">
            <a:avLst/>
          </a:prstGeom>
          <a:solidFill>
            <a:srgbClr val="FFFFFF">
              <a:alpha val="25000"/>
            </a:srgbClr>
          </a:solidFill>
          <a:ln>
            <a:noFill/>
          </a:ln>
          <a:effectLst>
            <a:outerShdw blurRad="304800" dist="76200">
              <a:srgbClr val="0F172A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>
              <a:defRPr sz="2000" b="1">
                <a:solidFill>
                  <a:srgbClr val="0F172A"/>
                </a:solidFill>
                <a:latin typeface="Inter"/>
              </a:defRPr>
            </a:pPr>
            <a:r>
              <a:rPr/>
              <a:t>Glass 25%</a:t>
            </a:r>
          </a:p>
          <a:p>
            <a:pPr>
              <a:spcBef>
                <a:spcPts val="600"/>
              </a:spcBef>
              <a:defRPr sz="1300">
                <a:solidFill>
                  <a:srgbClr val="475569"/>
                </a:solidFill>
                <a:latin typeface="Inter"/>
              </a:defRPr>
            </a:pPr>
            <a:r>
              <a:t>indigo · α 0.25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51765" y="2573867"/>
            <a:ext cx="3488165" cy="2692400"/>
          </a:xfrm>
          <a:prstGeom prst="roundRect">
            <a:avLst/>
          </a:prstGeom>
          <a:solidFill>
            <a:srgbClr val="FFFFFF">
              <a:alpha val="50000"/>
            </a:srgbClr>
          </a:solidFill>
          <a:ln>
            <a:noFill/>
          </a:ln>
          <a:effectLst>
            <a:outerShdw blurRad="304800" dist="76200">
              <a:srgbClr val="0F172A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>
              <a:defRPr sz="2000" b="1">
                <a:solidFill>
                  <a:srgbClr val="0F172A"/>
                </a:solidFill>
                <a:latin typeface="Inter"/>
              </a:defRPr>
            </a:pPr>
            <a:r>
              <a:rPr/>
              <a:t>Glass 50%</a:t>
            </a:r>
          </a:p>
          <a:p>
            <a:pPr>
              <a:spcBef>
                <a:spcPts val="600"/>
              </a:spcBef>
              <a:defRPr sz="1300">
                <a:solidFill>
                  <a:srgbClr val="475569"/>
                </a:solidFill>
                <a:latin typeface="Inter"/>
              </a:defRPr>
            </a:pPr>
            <a:r>
              <a:t>indigo · α 0.50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93930" y="2573867"/>
            <a:ext cx="3488165" cy="2692400"/>
          </a:xfrm>
          <a:prstGeom prst="roundRect">
            <a:avLst/>
          </a:prstGeom>
          <a:solidFill>
            <a:srgbClr val="FFFFFF">
              <a:alpha val="75000"/>
            </a:srgbClr>
          </a:solidFill>
          <a:ln>
            <a:noFill/>
          </a:ln>
          <a:effectLst>
            <a:outerShdw blurRad="304800" dist="76200">
              <a:srgbClr val="0F172A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>
              <a:defRPr sz="2000" b="1">
                <a:solidFill>
                  <a:srgbClr val="0F172A"/>
                </a:solidFill>
                <a:latin typeface="Inter"/>
              </a:defRPr>
            </a:pPr>
            <a:r>
              <a:rPr/>
              <a:t>Glass 75%</a:t>
            </a:r>
          </a:p>
          <a:p>
            <a:pPr>
              <a:spcBef>
                <a:spcPts val="600"/>
              </a:spcBef>
              <a:defRPr sz="1300">
                <a:solidFill>
                  <a:srgbClr val="475569"/>
                </a:solidFill>
                <a:latin typeface="Inter"/>
              </a:defRPr>
            </a:pPr>
            <a:r>
              <a:t>indigo · α 0.75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