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ARR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</c:v>
                </c:pt>
              </c:strCache>
            </c:strRef>
          </c:tx>
          <c:spPr>
            <a:solidFill>
              <a:srgbClr val="CBD5E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71</c:v>
                </c:pt>
                <c:pt idx="2">
                  <c:v>88</c:v>
                </c:pt>
                <c:pt idx="3">
                  <c:v>110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</c:v>
                </c:pt>
              </c:strCache>
            </c:strRef>
          </c:tx>
          <c:spPr>
            <a:gradFill rotWithShape="1">
              <a:gsLst>
                <a:gs pos="0">
                  <a:srgbClr val="4F46E5"/>
                </a:gs>
                <a:gs pos="100000">
                  <a:srgbClr val="22D3EE"/>
                </a:gs>
              </a:gsLst>
              <a:lin scaled="0"/>
            </a:gra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124</c:v>
                </c:pt>
                <c:pt idx="1">
                  <c:v>145</c:v>
                </c:pt>
                <c:pt idx="2">
                  <c:v>168</c:v>
                </c:pt>
                <c:pt idx="3">
                  <c:v>182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Retention metrics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NDR (%)</c:v>
                </c:pt>
              </c:strCache>
            </c:strRef>
          </c:tx>
          <c:spPr>
            <a:solidFill>
              <a:srgbClr val="2D3142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115</c:v>
                </c:pt>
                <c:pt idx="1">
                  <c:v>118</c:v>
                </c:pt>
                <c:pt idx="2">
                  <c:v>124</c:v>
                </c:pt>
                <c:pt idx="3">
                  <c:v>131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GRR (%)</c:v>
                </c:pt>
              </c:strCache>
            </c:strRef>
          </c:tx>
          <c:spPr>
            <a:solidFill>
              <a:srgbClr val="4F5D75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94</c:v>
                </c:pt>
                <c:pt idx="1">
                  <c:v>95</c:v>
                </c:pt>
                <c:pt idx="2">
                  <c:v>96</c:v>
                </c:pt>
                <c:pt idx="3">
                  <c:v>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ARR ($M) by segment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22D3EE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cat>
            <c:strRef>
              <c:f>Sheet1!$A$2:$A$5</c:f>
              <c:strCache>
                <c:ptCount val="4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  <c:pt idx="3">
                  <c:v>Self-serve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</c:v>
                </c:pt>
                <c:pt idx="1">
                  <c:v>55</c:v>
                </c:pt>
                <c:pt idx="2">
                  <c:v>23</c:v>
                </c:pt>
                <c:pt idx="3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Revenue mix ($M)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FY26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22D3EE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cat>
            <c:strRef>
              <c:f>Sheet1!$A$2:$A$5</c:f>
              <c:strCache>
                <c:ptCount val="4"/>
                <c:pt idx="0">
                  <c:v>Subscription</c:v>
                </c:pt>
                <c:pt idx="1">
                  <c:v>Services</c:v>
                </c:pt>
                <c:pt idx="2">
                  <c:v>Marketplace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</c:v>
                </c:pt>
                <c:pt idx="1">
                  <c:v>21</c:v>
                </c:pt>
                <c:pt idx="2">
                  <c:v>11</c:v>
                </c:pt>
                <c:pt idx="3">
                  <c:v>2</c:v>
                </c:pt>
              </c:numCache>
            </c:numRef>
          </c:val>
        </c:ser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ARR by quarter — column with gradient series</a:t>
            </a:r>
            <a:endParaRPr sz="3200" b="1" i="0">
              <a:latin typeface="Inter"/>
            </a:endParaRP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332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NDR vs. Gross Retention — built-in 'modern' palette</a:t>
            </a:r>
            <a:endParaRPr sz="3200" b="1" i="0">
              <a:latin typeface="Inter"/>
            </a:endParaRP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332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ARR by segment — explicit brand palette</a:t>
            </a:r>
            <a:endParaRPr sz="3200" b="1" i="0">
              <a:latin typeface="Inter"/>
            </a:endParaRP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332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Revenue mix — pie with the 'minimal' quick layout</a:t>
            </a:r>
            <a:endParaRPr sz="3200" b="1" i="0">
              <a:latin typeface="Inter"/>
            </a:endParaRP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286000" y="1463040"/>
          <a:ext cx="75895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