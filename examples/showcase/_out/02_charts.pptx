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 ($M)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FY25</c:v>
                </c:pt>
              </c:strCache>
            </c:strRef>
          </c:tx>
          <c:spPr>
            <a:solidFill>
              <a:srgbClr val="CBD5E1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71</c:v>
                </c:pt>
                <c:pt idx="2">
                  <c:v>88</c:v>
                </c:pt>
                <c:pt idx="3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gradFill rotWithShape="1">
              <a:gsLst>
                <a:gs pos="0">
                  <a:srgbClr val="4F46E5"/>
                </a:gs>
                <a:gs pos="100000">
                  <a:srgbClr val="22D3EE"/>
                </a:gs>
              </a:gsLst>
              <a:lin scaled="0"/>
            </a:gra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</c:v>
                </c:pt>
                <c:pt idx="1">
                  <c:v>145</c:v>
                </c:pt>
                <c:pt idx="2">
                  <c:v>168</c:v>
                </c:pt>
                <c:pt idx="3">
                  <c:v>182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Retention metrics (%)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NDR (%)</c:v>
                </c:pt>
              </c:strCache>
            </c:strRef>
          </c:tx>
          <c:spPr>
            <a:solidFill>
              <a:srgbClr val="2D3142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</c:v>
                </c:pt>
                <c:pt idx="1">
                  <c:v>118</c:v>
                </c:pt>
                <c:pt idx="2">
                  <c:v>124</c:v>
                </c:pt>
                <c:pt idx="3">
                  <c:v>131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GRR (%)</c:v>
                </c:pt>
              </c:strCache>
            </c:strRef>
          </c:tx>
          <c:spPr>
            <a:solidFill>
              <a:srgbClr val="4F5D75"/>
            </a:solidFill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</c:v>
                </c:pt>
                <c:pt idx="1">
                  <c:v>95</c:v>
                </c:pt>
                <c:pt idx="2">
                  <c:v>96</c:v>
                </c:pt>
                <c:pt idx="3">
                  <c:v>97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ARR ($M) by segment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22D3EE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cat>
            <c:strRef>
              <c:f>Sheet1!$A$2:$A$5</c:f>
              <c:strCache>
                <c:ptCount val="4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  <c:pt idx="3">
                  <c:v>Self-serve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</c:v>
                </c:pt>
                <c:pt idx="1">
                  <c:v>55</c:v>
                </c:pt>
                <c:pt idx="2">
                  <c:v>23</c:v>
                </c:pt>
                <c:pt idx="3">
                  <c:v>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Revenue mix ($M)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FY26</c:v>
                </c:pt>
              </c:strCache>
            </c:strRef>
          </c:tx>
          <c:dPt>
            <c:idx val="0"/>
            <c:spPr>
              <a:solidFill>
                <a:srgbClr val="4F46E5"/>
              </a:solidFill>
            </c:spPr>
          </c:dPt>
          <c:dPt>
            <c:idx val="1"/>
            <c:spPr>
              <a:solidFill>
                <a:srgbClr val="22D3EE"/>
              </a:solidFill>
            </c:spPr>
          </c:dPt>
          <c:dPt>
            <c:idx val="2"/>
            <c:spPr>
              <a:solidFill>
                <a:srgbClr val="10B981"/>
              </a:solidFill>
            </c:spPr>
          </c:dPt>
          <c:dPt>
            <c:idx val="3"/>
            <c:spPr>
              <a:solidFill>
                <a:srgbClr val="F59E0B"/>
              </a:solidFill>
            </c:spPr>
          </c:dPt>
          <c:cat>
            <c:strRef>
              <c:f>Sheet1!$A$2:$A$5</c:f>
              <c:strCache>
                <c:ptCount val="4"/>
                <c:pt idx="0">
                  <c:v>Subscription</c:v>
                </c:pt>
                <c:pt idx="1">
                  <c:v>Services</c:v>
                </c:pt>
                <c:pt idx="2">
                  <c:v>Marketplace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148</c:v>
                </c:pt>
                <c:pt idx="1">
                  <c:v>21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ARR by quarter — column with gradient series</a:t>
            </a:r>
            <a:endParaRPr sz="3200" b="1" i="0">
              <a:latin typeface="Inter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332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NDR vs. Gross Retention — built-in 'modern' palette</a:t>
            </a:r>
            <a:endParaRPr sz="3200" b="1" i="0">
              <a:latin typeface="Inter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332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ARR by segment — explicit brand palette</a:t>
            </a:r>
            <a:endParaRPr sz="3200" b="1" i="0">
              <a:latin typeface="Inter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103327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>
                <a:solidFill>
                  <a:srgbClr val="0F172A"/>
                </a:solidFill>
              </a:defRPr>
            </a:pPr>
            <a:r>
              <a:rPr sz="3200" b="1" i="0">
                <a:latin typeface="Inter"/>
              </a:rPr>
              <a:t>Revenue mix — pie with the 'minimal' quick layout</a:t>
            </a:r>
            <a:endParaRPr sz="3200" b="1" i="0">
              <a:latin typeface="Inter"/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2286000" y="1463040"/>
          <a:ext cx="758952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