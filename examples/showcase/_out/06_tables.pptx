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65760"/>
            <a:ext cx="10972800" cy="914400"/>
          </a:xfrm>
          <a:prstGeom prst="rect">
            <a:avLst/>
          </a:prstGeom>
          <a:noFill/>
        </p:spPr>
        <p:txBody>
          <a:bodyPr wrap="square">
            <a:noAutofit/>
          </a:bodyPr>
          <a:lstStyle/>
          <a:p>
            <a:pPr>
              <a:defRPr>
                <a:solidFill>
                  <a:srgbClr val="0F172A"/>
                </a:solidFill>
              </a:defRPr>
            </a:pPr>
            <a:r>
              <a:rPr sz="3200" b="1" i="0">
                <a:latin typeface="Inter"/>
              </a:rPr>
              <a:t>Run-rate scorecard</a:t>
            </a:r>
            <a:endParaRPr sz="3200" b="1" i="0">
              <a:latin typeface="Inter"/>
            </a:endParaRP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548640" y="1463040"/>
          <a:ext cx="11064240" cy="438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463040"/>
                <a:gridCol w="1463040"/>
                <a:gridCol w="1463040"/>
                <a:gridCol w="4297680"/>
              </a:tblGrid>
              <a:tr h="731520"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Metric</a:t>
                      </a:r>
                    </a:p>
                  </a:txBody>
                  <a:tcPr marL="127000" marR="127000" marT="101600" marB="101600">
                    <a:lnB w="19050">
                      <a:solidFill>
                        <a:srgbClr val="0F172A"/>
                      </a:solidFill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FY25</a:t>
                      </a:r>
                    </a:p>
                  </a:txBody>
                  <a:tcPr marL="127000" marR="127000" marT="101600" marB="101600">
                    <a:lnB w="19050">
                      <a:solidFill>
                        <a:srgbClr val="0F172A"/>
                      </a:solidFill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FY26</a:t>
                      </a:r>
                    </a:p>
                  </a:txBody>
                  <a:tcPr marL="127000" marR="127000" marT="101600" marB="101600">
                    <a:lnB w="19050">
                      <a:solidFill>
                        <a:srgbClr val="0F172A"/>
                      </a:solidFill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Δ YoY</a:t>
                      </a:r>
                    </a:p>
                  </a:txBody>
                  <a:tcPr marL="127000" marR="127000" marT="101600" marB="101600">
                    <a:lnB w="19050">
                      <a:solidFill>
                        <a:srgbClr val="0F172A"/>
                      </a:solidFill>
                    </a:lnB>
                    <a:solidFill>
                      <a:srgbClr val="4F46E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400" b="1">
                          <a:solidFill>
                            <a:srgbClr val="FFFFFF"/>
                          </a:solidFill>
                          <a:latin typeface="Inter"/>
                        </a:defRPr>
                      </a:pPr>
                      <a:r>
                        <a:t>Notes</a:t>
                      </a:r>
                    </a:p>
                  </a:txBody>
                  <a:tcPr marL="127000" marR="127000" marT="101600" marB="101600">
                    <a:lnB w="19050">
                      <a:solidFill>
                        <a:srgbClr val="0F172A"/>
                      </a:solidFill>
                    </a:lnB>
                    <a:solidFill>
                      <a:srgbClr val="4F46E5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ARR ($M)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110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182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  <a:latin typeface="Inter"/>
                        </a:defRPr>
                      </a:pPr>
                      <a:r>
                        <a:t>+65%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Outpaces plan by 12 points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NDR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118%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131%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  <a:latin typeface="Inter"/>
                        </a:defRPr>
                      </a:pPr>
                      <a:r>
                        <a:t>+13pp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Driven by enterprise expand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Gross retention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94%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97%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  <a:latin typeface="Inter"/>
                        </a:defRPr>
                      </a:pPr>
                      <a:r>
                        <a:t>+3pp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Churn down across all tiers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CAC payback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11 mo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8 mo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  <a:latin typeface="Inter"/>
                        </a:defRPr>
                      </a:pPr>
                      <a:r>
                        <a:t>−3 mo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Sales efficiency improved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1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Logo count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412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604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10B981"/>
                          </a:solidFill>
                          <a:latin typeface="Inter"/>
                        </a:defRPr>
                      </a:pPr>
                      <a:r>
                        <a:t>+47%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0F172A"/>
                          </a:solidFill>
                          <a:latin typeface="Inter"/>
                        </a:defRPr>
                      </a:pPr>
                      <a:r>
                        <a:t>EU contributed 38% of net-new</a:t>
                      </a:r>
                    </a:p>
                  </a:txBody>
                  <a:tcPr marL="127000" marR="127000" marT="76200" marB="76200">
                    <a:lnB w="6350">
                      <a:solidFill>
                        <a:srgbClr val="E2E8F0"/>
                      </a:solidFill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