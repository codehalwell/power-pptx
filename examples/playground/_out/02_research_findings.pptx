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Frontend tier</c:v>
                </c:pt>
              </c:strCache>
            </c:strRef>
          </c:tx>
          <c:spPr>
            <a:ln w="47625">
              <a:noFill/>
            </a:ln>
          </c:spPr>
          <c:marker>
            <c:size val="10"/>
            <c:spPr>
              <a:solidFill>
                <a:srgbClr val="E04E39"/>
              </a:solidFill>
              <a:ln>
                <a:solidFill>
                  <a:srgbClr val="E04E39"/>
                </a:solidFill>
              </a:ln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38</c:v>
                </c:pt>
                <c:pt idx="2">
                  <c:v>28</c:v>
                </c:pt>
                <c:pt idx="3">
                  <c:v>19</c:v>
                </c:pt>
                <c:pt idx="4">
                  <c:v>41</c:v>
                </c:pt>
                <c:pt idx="5">
                  <c:v>55</c:v>
                </c:pt>
                <c:pt idx="6">
                  <c:v>32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Aggregator tier</c:v>
                </c:pt>
              </c:strCache>
            </c:strRef>
          </c:tx>
          <c:spPr>
            <a:ln w="47625">
              <a:noFill/>
            </a:ln>
          </c:spPr>
          <c:marker>
            <c:size val="10"/>
            <c:spPr>
              <a:solidFill>
                <a:srgbClr val="F4B860"/>
              </a:solidFill>
              <a:ln>
                <a:solidFill>
                  <a:srgbClr val="F4B860"/>
                </a:solidFill>
              </a:ln>
            </c:spPr>
          </c:marker>
          <c:xVal>
            <c:numRef>
              <c:f>Sheet1!$A$11:$A$17</c:f>
              <c:numCache>
                <c:formatCode>General</c:formatCode>
                <c:ptCount val="7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</c:numCache>
            </c:numRef>
          </c:xVal>
          <c:yVal>
            <c:numRef>
              <c:f>Sheet1!$B$11:$B$17</c:f>
              <c:numCache>
                <c:formatCode>General</c:formatCode>
                <c:ptCount val="7"/>
                <c:pt idx="0">
                  <c:v>71</c:v>
                </c:pt>
                <c:pt idx="1">
                  <c:v>88</c:v>
                </c:pt>
                <c:pt idx="2">
                  <c:v>102</c:v>
                </c:pt>
                <c:pt idx="3">
                  <c:v>78</c:v>
                </c:pt>
                <c:pt idx="4">
                  <c:v>121</c:v>
                </c:pt>
                <c:pt idx="5">
                  <c:v>134</c:v>
                </c:pt>
                <c:pt idx="6">
                  <c:v>96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Sheet1!$B$19</c:f>
              <c:strCache>
                <c:ptCount val="1"/>
                <c:pt idx="0">
                  <c:v>Data tier</c:v>
                </c:pt>
              </c:strCache>
            </c:strRef>
          </c:tx>
          <c:spPr>
            <a:ln w="47625">
              <a:noFill/>
            </a:ln>
          </c:spPr>
          <c:marker>
            <c:size val="10"/>
            <c:spPr>
              <a:solidFill>
                <a:srgbClr val="4A7C8C"/>
              </a:solidFill>
              <a:ln>
                <a:solidFill>
                  <a:srgbClr val="4A7C8C"/>
                </a:solidFill>
              </a:ln>
            </c:spPr>
          </c:marker>
          <c:xVal>
            <c:numRef>
              <c:f>Sheet1!$A$20:$A$26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Sheet1!$B$20:$B$26</c:f>
              <c:numCache>
                <c:formatCode>General</c:formatCode>
                <c:ptCount val="7"/>
                <c:pt idx="0">
                  <c:v>145</c:v>
                </c:pt>
                <c:pt idx="1">
                  <c:v>192</c:v>
                </c:pt>
                <c:pt idx="2">
                  <c:v>211</c:v>
                </c:pt>
                <c:pt idx="3">
                  <c:v>245</c:v>
                </c:pt>
                <c:pt idx="4">
                  <c:v>288</c:v>
                </c:pt>
                <c:pt idx="5">
                  <c:v>312</c:v>
                </c:pt>
                <c:pt idx="6">
                  <c:v>358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Network</c:v>
                </c:pt>
              </c:strCache>
            </c:strRef>
          </c:tx>
          <c:spPr>
            <a:solidFill>
              <a:srgbClr val="E04E39"/>
            </a:solidFill>
          </c:spPr>
          <c:cat>
            <c:strRef>
              <c:f>Sheet1!$A$2:$A$5</c:f>
              <c:strCache>
                <c:ptCount val="4"/>
                <c:pt idx="0">
                  <c:v>Frontend</c:v>
                </c:pt>
                <c:pt idx="1">
                  <c:v>Aggregator</c:v>
                </c:pt>
                <c:pt idx="2">
                  <c:v>Data</c:v>
                </c:pt>
                <c:pt idx="3">
                  <c:v>Async worker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12</c:v>
                </c:pt>
                <c:pt idx="2">
                  <c:v>14</c:v>
                </c:pt>
                <c:pt idx="3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Serialization</c:v>
                </c:pt>
              </c:strCache>
            </c:strRef>
          </c:tx>
          <c:spPr>
            <a:solidFill>
              <a:srgbClr val="F4B860"/>
            </a:solidFill>
          </c:spPr>
          <c:cat>
            <c:strRef>
              <c:f>Sheet1!$A$2:$A$5</c:f>
              <c:strCache>
                <c:ptCount val="4"/>
                <c:pt idx="0">
                  <c:v>Frontend</c:v>
                </c:pt>
                <c:pt idx="1">
                  <c:v>Aggregator</c:v>
                </c:pt>
                <c:pt idx="2">
                  <c:v>Data</c:v>
                </c:pt>
                <c:pt idx="3">
                  <c:v>Async worker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11</c:v>
                </c:pt>
                <c:pt idx="2">
                  <c:v>17</c:v>
                </c:pt>
                <c:pt idx="3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Compute</c:v>
                </c:pt>
              </c:strCache>
            </c:strRef>
          </c:tx>
          <c:spPr>
            <a:solidFill>
              <a:srgbClr val="2E8B57"/>
            </a:solidFill>
          </c:spPr>
          <c:cat>
            <c:strRef>
              <c:f>Sheet1!$A$2:$A$5</c:f>
              <c:strCache>
                <c:ptCount val="4"/>
                <c:pt idx="0">
                  <c:v>Frontend</c:v>
                </c:pt>
                <c:pt idx="1">
                  <c:v>Aggregator</c:v>
                </c:pt>
                <c:pt idx="2">
                  <c:v>Data</c:v>
                </c:pt>
                <c:pt idx="3">
                  <c:v>Async worker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28</c:v>
                </c:pt>
                <c:pt idx="2">
                  <c:v>41</c:v>
                </c:pt>
                <c:pt idx="3">
                  <c:v>33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Storage I/O</c:v>
                </c:pt>
              </c:strCache>
            </c:strRef>
          </c:tx>
          <c:spPr>
            <a:solidFill>
              <a:srgbClr val="4A7C8C"/>
            </a:solidFill>
          </c:spPr>
          <c:cat>
            <c:strRef>
              <c:f>Sheet1!$A$2:$A$5</c:f>
              <c:strCache>
                <c:ptCount val="4"/>
                <c:pt idx="0">
                  <c:v>Frontend</c:v>
                </c:pt>
                <c:pt idx="1">
                  <c:v>Aggregator</c:v>
                </c:pt>
                <c:pt idx="2">
                  <c:v>Data</c:v>
                </c:pt>
                <c:pt idx="3">
                  <c:v>Async worker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</c:v>
                </c:pt>
                <c:pt idx="1">
                  <c:v>18</c:v>
                </c:pt>
                <c:pt idx="2">
                  <c:v>92</c:v>
                </c:pt>
                <c:pt idx="3">
                  <c:v>47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Queue wait</c:v>
                </c:pt>
              </c:strCache>
            </c:strRef>
          </c:tx>
          <c:spPr>
            <a:solidFill>
              <a:srgbClr val="9B5DE5"/>
            </a:solidFill>
          </c:spPr>
          <c:cat>
            <c:strRef>
              <c:f>Sheet1!$A$2:$A$5</c:f>
              <c:strCache>
                <c:ptCount val="4"/>
                <c:pt idx="0">
                  <c:v>Frontend</c:v>
                </c:pt>
                <c:pt idx="1">
                  <c:v>Aggregator</c:v>
                </c:pt>
                <c:pt idx="2">
                  <c:v>Data</c:v>
                </c:pt>
                <c:pt idx="3">
                  <c:v>Async worker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22</c:v>
                </c:pt>
                <c:pt idx="3">
                  <c:v>51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dPt>
            <c:idx val="0"/>
            <c:spPr>
              <a:solidFill>
                <a:srgbClr val="E04E39"/>
              </a:solidFill>
            </c:spPr>
          </c:dPt>
          <c:dPt>
            <c:idx val="1"/>
            <c:spPr>
              <a:solidFill>
                <a:srgbClr val="F4B860"/>
              </a:solidFill>
            </c:spPr>
          </c:dPt>
          <c:dPt>
            <c:idx val="2"/>
            <c:spPr>
              <a:solidFill>
                <a:srgbClr val="2E8B57"/>
              </a:solidFill>
            </c:spPr>
          </c:dPt>
          <c:dPt>
            <c:idx val="3"/>
            <c:spPr>
              <a:solidFill>
                <a:srgbClr val="4A7C8C"/>
              </a:solidFill>
            </c:spPr>
          </c:dPt>
          <c:cat>
            <c:strRef>
              <c:f>Sheet1!$A$2:$A$5</c:f>
              <c:strCache>
                <c:ptCount val="4"/>
                <c:pt idx="0">
                  <c:v>Frontend</c:v>
                </c:pt>
                <c:pt idx="1">
                  <c:v>Aggregator</c:v>
                </c:pt>
                <c:pt idx="2">
                  <c:v>Data</c:v>
                </c:pt>
                <c:pt idx="3">
                  <c:v>Async worker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24</c:v>
                </c:pt>
                <c:pt idx="3">
                  <c:v>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Frontend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Frontend</c:v>
                </c:pt>
              </c:strCache>
            </c:strRef>
          </c:tx>
          <c:spPr>
            <a:solidFill>
              <a:srgbClr val="E04E39"/>
            </a:solidFill>
          </c:spPr>
          <c:cat>
            <c:strRef>
              <c:f>Sheet1!$A$2:$A$7</c:f>
              <c:strCache>
                <c:ptCount val="6"/>
                <c:pt idx="0">
                  <c:v>28</c:v>
                </c:pt>
                <c:pt idx="1">
                  <c:v>52</c:v>
                </c:pt>
                <c:pt idx="2">
                  <c:v>74</c:v>
                </c:pt>
                <c:pt idx="3">
                  <c:v>96</c:v>
                </c:pt>
                <c:pt idx="4">
                  <c:v>118</c:v>
                </c:pt>
                <c:pt idx="5">
                  <c:v>140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14</c:v>
                </c:pt>
                <c:pt idx="2">
                  <c:v>22</c:v>
                </c:pt>
                <c:pt idx="3">
                  <c:v>18</c:v>
                </c:pt>
                <c:pt idx="4">
                  <c:v>9</c:v>
                </c:pt>
                <c:pt idx="5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Aggregator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Aggregator</c:v>
                </c:pt>
              </c:strCache>
            </c:strRef>
          </c:tx>
          <c:spPr>
            <a:solidFill>
              <a:srgbClr val="F4B860"/>
            </a:solidFill>
          </c:spPr>
          <c:cat>
            <c:strRef>
              <c:f>Sheet1!$A$2:$A$7</c:f>
              <c:strCache>
                <c:ptCount val="6"/>
                <c:pt idx="0">
                  <c:v>28</c:v>
                </c:pt>
                <c:pt idx="1">
                  <c:v>52</c:v>
                </c:pt>
                <c:pt idx="2">
                  <c:v>74</c:v>
                </c:pt>
                <c:pt idx="3">
                  <c:v>96</c:v>
                </c:pt>
                <c:pt idx="4">
                  <c:v>118</c:v>
                </c:pt>
                <c:pt idx="5">
                  <c:v>140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4</c:v>
                </c:pt>
                <c:pt idx="2">
                  <c:v>11</c:v>
                </c:pt>
                <c:pt idx="3">
                  <c:v>20</c:v>
                </c:pt>
                <c:pt idx="4">
                  <c:v>28</c:v>
                </c:pt>
                <c:pt idx="5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Data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solidFill>
              <a:srgbClr val="2E8B57"/>
            </a:solidFill>
          </c:spPr>
          <c:cat>
            <c:strRef>
              <c:f>Sheet1!$A$2:$A$7</c:f>
              <c:strCache>
                <c:ptCount val="6"/>
                <c:pt idx="0">
                  <c:v>28</c:v>
                </c:pt>
                <c:pt idx="1">
                  <c:v>52</c:v>
                </c:pt>
                <c:pt idx="2">
                  <c:v>74</c:v>
                </c:pt>
                <c:pt idx="3">
                  <c:v>96</c:v>
                </c:pt>
                <c:pt idx="4">
                  <c:v>118</c:v>
                </c:pt>
                <c:pt idx="5">
                  <c:v>140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9</c:v>
                </c:pt>
                <c:pt idx="4">
                  <c:v>18</c:v>
                </c:pt>
                <c:pt idx="5">
                  <c:v>41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Async worker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Async worker</c:v>
                </c:pt>
              </c:strCache>
            </c:strRef>
          </c:tx>
          <c:spPr>
            <a:solidFill>
              <a:srgbClr val="4A7C8C"/>
            </a:solidFill>
          </c:spPr>
          <c:cat>
            <c:strRef>
              <c:f>Sheet1!$A$2:$A$7</c:f>
              <c:strCache>
                <c:ptCount val="6"/>
                <c:pt idx="0">
                  <c:v>28</c:v>
                </c:pt>
                <c:pt idx="1">
                  <c:v>52</c:v>
                </c:pt>
                <c:pt idx="2">
                  <c:v>74</c:v>
                </c:pt>
                <c:pt idx="3">
                  <c:v>96</c:v>
                </c:pt>
                <c:pt idx="4">
                  <c:v>118</c:v>
                </c:pt>
                <c:pt idx="5">
                  <c:v>140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8</c:v>
                </c:pt>
                <c:pt idx="2">
                  <c:v>14</c:v>
                </c:pt>
                <c:pt idx="3">
                  <c:v>22</c:v>
                </c:pt>
                <c:pt idx="4">
                  <c:v>11</c:v>
                </c:pt>
                <c:pt idx="5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5333695" y="0"/>
            <a:ext cx="6858000" cy="6858000"/>
          </a:xfrm>
          <a:prstGeom prst="ellipse">
            <a:avLst/>
          </a:prstGeom>
          <a:solidFill>
            <a:srgbClr val="E04E39">
              <a:alpha val="85000"/>
            </a:srgbClr>
          </a:solidFill>
          <a:ln>
            <a:noFill/>
          </a:ln>
          <a:effectLst>
            <a:blur rad="254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B860"/>
                </a:solidFill>
                <a:latin typeface="DejaVu Sans"/>
              </a:defRPr>
            </a:pPr>
            <a:r>
              <a:rPr/>
              <a:t>WORKING PAPER  •  POWER-PPTX RESEARCH  •  N°27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FFFFFF"/>
                </a:solidFill>
              </a:defRPr>
            </a:pPr>
            <a:r>
              <a:rPr sz="6000" b="1" i="0">
                <a:latin typeface="DejaVu Serif"/>
              </a:rPr>
              <a:t>Surfacing Slowdowns: Latency Patterns in a 400-Service Mesh</a:t>
            </a:r>
            <a:endParaRPr sz="6000" b="1" i="0">
              <a:latin typeface="DejaVu Serif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i="1">
                <a:solidFill>
                  <a:srgbClr val="F4B860"/>
                </a:solidFill>
                <a:latin typeface="DejaVu Sans"/>
              </a:defRPr>
            </a:pPr>
            <a:r>
              <a:rPr/>
              <a:t>Halwell · Chen · Mbeki —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200" b="1" i="0">
                <a:latin typeface="DejaVu Serif"/>
              </a:rPr>
              <a:t>Methods</a:t>
            </a:r>
            <a:endParaRPr sz="32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How we measured 1.4B request traces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200" y="2599267"/>
            <a:ext cx="3437365" cy="260350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54000" dist="76200" dir="5400000">
              <a:srgbClr val="0B13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>
            <a:normAutofit/>
          </a:bodyPr>
          <a:lstStyle/>
          <a:p>
            <a:pPr algn="l">
              <a:defRPr sz="2200" b="1">
                <a:solidFill>
                  <a:srgbClr val="E04E39"/>
                </a:solidFill>
                <a:latin typeface="DejaVu Serif"/>
              </a:defRPr>
            </a:pPr>
            <a:r>
              <a:rPr/>
              <a:t>Sampling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defRPr sz="1300">
                <a:solidFill>
                  <a:srgbClr val="5C677D"/>
                </a:solidFill>
                <a:latin typeface="DejaVu Sans"/>
              </a:defRPr>
            </a:pPr>
            <a:r>
              <a:rPr/>
              <a:t>Stratified-by-service, 0.5% of all upstream HTTP calls captured over a 14-day window in March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7165" y="2599267"/>
            <a:ext cx="3437365" cy="260350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54000" dist="76200" dir="5400000">
              <a:srgbClr val="0B13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>
            <a:normAutofit/>
          </a:bodyPr>
          <a:lstStyle/>
          <a:p>
            <a:pPr algn="l">
              <a:defRPr sz="2200" b="1">
                <a:solidFill>
                  <a:srgbClr val="E04E39"/>
                </a:solidFill>
                <a:latin typeface="DejaVu Serif"/>
              </a:defRPr>
            </a:pPr>
            <a:r>
              <a:rPr/>
              <a:t>Aggregation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defRPr sz="1300">
                <a:solidFill>
                  <a:srgbClr val="5C677D"/>
                </a:solidFill>
                <a:latin typeface="DejaVu Sans"/>
              </a:defRPr>
            </a:pPr>
            <a:r>
              <a:rPr/>
              <a:t>Per-service P50/P95/P99 latency rolled up at 1-minute resolution and stored in a columnar warehouse.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130" y="2599267"/>
            <a:ext cx="3437365" cy="260350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54000" dist="76200" dir="5400000">
              <a:srgbClr val="0B13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>
            <a:normAutofit/>
          </a:bodyPr>
          <a:lstStyle/>
          <a:p>
            <a:pPr algn="l">
              <a:defRPr sz="2200" b="1">
                <a:solidFill>
                  <a:srgbClr val="E04E39"/>
                </a:solidFill>
                <a:latin typeface="DejaVu Serif"/>
              </a:defRPr>
            </a:pPr>
            <a:r>
              <a:rPr/>
              <a:t>Classification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defRPr sz="1300">
                <a:solidFill>
                  <a:srgbClr val="5C677D"/>
                </a:solidFill>
                <a:latin typeface="DejaVu Sans"/>
              </a:defRPr>
            </a:pPr>
            <a:r>
              <a:rPr/>
              <a:t>Each service tagged by tier (frontend / aggregator / data / async) and by call-graph depth from the edge.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200" b="1" i="0">
                <a:latin typeface="DejaVu Serif"/>
              </a:rPr>
              <a:t>Headline: depth predicts tail latency</a:t>
            </a:r>
            <a:endParaRPr sz="32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P95 (ms) vs call-graph depth, n=412 services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8308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>
                <a:solidFill>
                  <a:srgbClr val="5C677D"/>
                </a:solidFill>
                <a:latin typeface="DejaVu Sans"/>
              </a:defRPr>
            </a:pPr>
            <a:r>
              <a:rPr/>
              <a:t>Tail latency rises monotonically with depth from the edge. Each unit of depth adds ~50ms at the data tier.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200" b="1" i="0">
                <a:latin typeface="DejaVu Serif"/>
              </a:rPr>
              <a:t>Where the time goes — per tier</a:t>
            </a:r>
            <a:endParaRPr sz="32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Median request budget breakdown (ms)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83080"/>
          <a:ext cx="105156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>
                <a:solidFill>
                  <a:srgbClr val="5C677D"/>
                </a:solidFill>
                <a:latin typeface="DejaVu Sans"/>
              </a:defRPr>
            </a:pPr>
            <a:r>
              <a:rPr/>
              <a:t>Storage I/O dominates the data tier; queue wait dominates async.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200" b="1" i="0">
                <a:latin typeface="DejaVu Serif"/>
              </a:rPr>
              <a:t>Service composition by tier</a:t>
            </a:r>
            <a:endParaRPr sz="32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n=412 services in scope; share of total request volume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288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49440" y="2194560"/>
            <a:ext cx="4572000" cy="384048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28600" dist="76200">
              <a:srgbClr val="0B13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304800" tIns="304800" bIns="304800">
            <a:normAutofit/>
          </a:bodyPr>
          <a:lstStyle/>
          <a:p>
            <a:pPr algn="l">
              <a:defRPr sz="1200" b="1">
                <a:solidFill>
                  <a:srgbClr val="E04E39"/>
                </a:solidFill>
                <a:latin typeface="DejaVu Sans"/>
              </a:defRPr>
            </a:pPr>
            <a:r>
              <a:rPr/>
              <a:t>Headline</a:t>
            </a:r>
          </a:p>
          <a:p>
            <a:pPr algn="l">
              <a:spcBef>
                <a:spcPts val="600"/>
              </a:spcBef>
              <a:defRPr sz="7600" b="1">
                <a:solidFill>
                  <a:srgbClr val="0B132B"/>
                </a:solidFill>
                <a:latin typeface="DejaVu Serif"/>
              </a:defRPr>
            </a:pPr>
            <a:r>
              <a:rPr/>
              <a:t>65%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defRPr sz="1500">
                <a:solidFill>
                  <a:srgbClr val="5C677D"/>
                </a:solidFill>
                <a:latin typeface="DejaVu Sans"/>
              </a:defRPr>
            </a:pPr>
            <a:r>
              <a:rPr/>
              <a:t>of request volume sits in the frontend + aggregator tiers — and accounts for only 22% of the P95 latency 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200" b="1" i="0">
                <a:latin typeface="DejaVu Serif"/>
              </a:rPr>
              <a:t>Small multiples — P95 distribution per tier</a:t>
            </a:r>
            <a:endParaRPr sz="32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Histogram of P95 latencies (ms), bucketed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1200" y="1844040"/>
          <a:ext cx="5270348" cy="2037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0148" y="1844040"/>
          <a:ext cx="5270348" cy="2037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1200" y="4109720"/>
          <a:ext cx="5270348" cy="2037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0148" y="4109720"/>
          <a:ext cx="5270348" cy="2037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B"/>
              </a:gs>
              <a:gs pos="100000">
                <a:srgbClr val="E04E3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FFFFFF"/>
                </a:solidFill>
              </a:defRPr>
            </a:pPr>
            <a:r>
              <a:rPr sz="4600" b="1" i="0">
                <a:latin typeface="DejaVu Serif"/>
              </a:rPr>
              <a:t>What this tells us</a:t>
            </a:r>
            <a:endParaRPr sz="46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rPr/>
              <a:t>1.  Depth, not service identity, is the tail-latency driver.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  <a:defRPr sz="1500" i="1">
                <a:solidFill>
                  <a:srgbClr val="F4B860"/>
                </a:solidFill>
                <a:latin typeface="DejaVu Sans"/>
              </a:defRPr>
            </a:pPr>
            <a:r>
              <a:rPr/>
              <a:t>Targeting the deepest 10% of services would compress P95 by an estimated 40%.</a:t>
            </a:r>
          </a:p>
          <a:p>
            <a:pPr algn="l">
              <a:spcBef>
                <a:spcPts val="1800"/>
              </a:spcBef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rPr/>
              <a:t>2.  Storage I/O and queue wait dominate.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  <a:defRPr sz="1500" i="1">
                <a:solidFill>
                  <a:srgbClr val="F4B860"/>
                </a:solidFill>
                <a:latin typeface="DejaVu Sans"/>
              </a:defRPr>
            </a:pPr>
            <a:r>
              <a:rPr/>
              <a:t>Together they account for 71% of the slow-path budget. Network and serialization are noise.</a:t>
            </a:r>
          </a:p>
          <a:p>
            <a:pPr algn="l">
              <a:spcBef>
                <a:spcPts val="1800"/>
              </a:spcBef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rPr/>
              <a:t>3.  Async workers are an underweighted lever.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  <a:defRPr sz="1500" i="1">
                <a:solidFill>
                  <a:srgbClr val="F4B860"/>
                </a:solidFill>
                <a:latin typeface="DejaVu Sans"/>
              </a:defRPr>
            </a:pPr>
            <a:r>
              <a:rPr/>
              <a:t>Despite handling 11% of volume they contribute 23% of P95 budget — mostly queue wait.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