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430000" cy="2926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17700" b="1" i="0">
                <a:latin typeface="DejaVu Serif"/>
              </a:rPr>
              <a:t>Espresso</a:t>
            </a:r>
            <a:endParaRPr sz="17700" b="1" i="0">
              <a:latin typeface="DejaVu Serif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937760" y="5120640"/>
            <a:ext cx="2286000" cy="18288"/>
          </a:xfrm>
          <a:prstGeom prst="rect">
            <a:avLst/>
          </a:prstGeom>
          <a:solidFill>
            <a:srgbClr val="E04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53949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F4B860"/>
                </a:solidFill>
                <a:latin typeface="DejaVu Sans"/>
              </a:defRPr>
            </a:pPr>
            <a:r>
              <a:rPr/>
              <a:t>A faster brew, in five minutes flat.</a:t>
            </a:r>
          </a:p>
        </p:txBody>
      </p:sp>
    </p:spTree>
  </p:cSld>
  <p:clrMapOvr>
    <a:masterClrMapping/>
  </p:clrMapOvr>
  <p:transition xmlns:ns0="http://schemas.microsoft.com/office/powerpoint/2010/main" ns0:dur="1500">
    <ns0:morph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04E39"/>
              </a:gs>
              <a:gs pos="70000">
                <a:srgbClr val="7B1F12"/>
              </a:gs>
              <a:gs pos="100000">
                <a:srgbClr val="0B132B"/>
              </a:gs>
            </a:gsLst>
            <a:path path="circle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18320" cy="4023360"/>
          </a:xfrm>
          <a:prstGeom prst="roundRect">
            <a:avLst/>
          </a:prstGeom>
          <a:solidFill>
            <a:srgbClr val="FBF5EC"/>
          </a:solidFill>
          <a:ln>
            <a:noFill/>
          </a:ln>
          <a:effectLst>
            <a:outerShdw blurRad="355600" dist="127000" dir="5400000">
              <a:srgbClr val="000000">
                <a:alpha val="45000"/>
              </a:srgbClr>
            </a:outerShdw>
            <a:reflection blurRad="25400" dist="12700" stA="45000" endA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9600" rIns="609600" tIns="457200" bIns="457200">
            <a:normAutofit/>
          </a:bodyPr>
          <a:lstStyle/>
          <a:p>
            <a:pPr algn="l">
              <a:defRPr sz="5200" b="1">
                <a:solidFill>
                  <a:srgbClr val="0B132B"/>
                </a:solidFill>
                <a:latin typeface="DejaVu Serif"/>
              </a:defRPr>
            </a:pPr>
            <a:r>
              <a:rPr/>
              <a:t>Introducing Espresso</a:t>
            </a:r>
          </a:p>
          <a:p>
            <a:pPr algn="l">
              <a:lnSpc>
                <a:spcPct val="140000"/>
              </a:lnSpc>
              <a:spcBef>
                <a:spcPts val="1600"/>
              </a:spcBef>
              <a:defRPr sz="1900">
                <a:solidFill>
                  <a:srgbClr val="5C677D"/>
                </a:solidFill>
                <a:latin typeface="DejaVu Sans"/>
              </a:defRPr>
            </a:pPr>
            <a:r>
              <a:rPr/>
              <a:t>An end-to-end deck generator that goes from a JSON spec to a lint-clean, brand-aligned PowerPoint in under five seconds — with the same space-aware guarantees you'd expect from a designer touching every slide.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566928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E04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</a:defRPr>
            </a:pPr>
            <a:r>
              <a:rPr/>
              <a:t>Read the docs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566928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FBF5EC"/>
          </a:solidFill>
          <a:ln w="19050">
            <a:solidFill>
              <a:srgbClr val="E04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>
            <a:normAutofit/>
          </a:bodyPr>
          <a:lstStyle/>
          <a:p>
            <a:pPr algn="ctr">
              <a:defRPr sz="1500" b="1">
                <a:solidFill>
                  <a:srgbClr val="E04E39"/>
                </a:solidFill>
                <a:latin typeface="DejaVu Sans"/>
              </a:defRPr>
            </a:pPr>
            <a:r>
              <a:rPr/>
              <a:t>Try the API</a:t>
            </a:r>
          </a:p>
        </p:txBody>
      </p:sp>
    </p:spTree>
  </p:cSld>
  <p:clrMapOvr>
    <a:masterClrMapping/>
  </p:clrMapOvr>
  <p:transition xmlns:ns0="http://schemas.microsoft.com/office/powerpoint/2010/main" ns0:dur="1500">
    <ns0:morp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>
                <a:solidFill>
                  <a:srgbClr val="0B132B"/>
                </a:solidFill>
              </a:defRPr>
            </a:pPr>
            <a:r>
              <a:rPr sz="3200" b="1" i="0">
                <a:latin typeface="DejaVu Serif"/>
              </a:rPr>
              <a:t>What it ships with</a:t>
            </a:r>
            <a:endParaRPr sz="3200" b="1" i="0">
              <a:latin typeface="DejaVu 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5C677D"/>
                </a:solidFill>
                <a:latin typeface="DejaVu Sans"/>
              </a:defRPr>
            </a:pPr>
            <a:r>
              <a:rPr/>
              <a:t>Six things that make generated decks survive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070100"/>
            <a:ext cx="3522032" cy="1987550"/>
          </a:xfrm>
          <a:prstGeom prst="roundRect">
            <a:avLst/>
          </a:prstGeom>
          <a:solidFill>
            <a:srgbClr val="FBF5EC"/>
          </a:solidFill>
          <a:ln w="12700">
            <a:solidFill>
              <a:srgbClr val="E7DED0"/>
            </a:solidFill>
          </a:ln>
          <a:effectLst>
            <a:outerShdw blurRad="228600" dist="76200" dir="5400000">
              <a:srgbClr val="0B132B">
                <a:alpha val="12000"/>
              </a:srgb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28600" bIns="228600">
            <a:normAutofit/>
          </a:bodyPr>
          <a:lstStyle/>
          <a:p>
            <a:pPr algn="l">
              <a:defRPr sz="2800" b="1">
                <a:solidFill>
                  <a:srgbClr val="E04E39"/>
                </a:solidFill>
                <a:latin typeface="DejaVu Sans Mono"/>
              </a:defRPr>
            </a:pPr>
            <a:r>
              <a:rPr/>
              <a:t>01</a:t>
            </a:r>
          </a:p>
          <a:p>
            <a:pPr algn="l">
              <a:spcBef>
                <a:spcPts val="400"/>
              </a:spcBef>
              <a:defRPr sz="2000" b="1">
                <a:solidFill>
                  <a:srgbClr val="0B132B"/>
                </a:solidFill>
                <a:latin typeface="DejaVu Serif"/>
              </a:defRPr>
            </a:pPr>
            <a:r>
              <a:rPr/>
              <a:t>Five-second build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defRPr sz="1200">
                <a:solidFill>
                  <a:srgbClr val="5C677D"/>
                </a:solidFill>
                <a:latin typeface="DejaVu Sans"/>
              </a:defRPr>
            </a:pPr>
            <a:r>
              <a:rPr/>
              <a:t>JSON spec → linted .pptx in under five seconds for a typical 12-slide deck.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4832" y="2070100"/>
            <a:ext cx="3522032" cy="1987550"/>
          </a:xfrm>
          <a:prstGeom prst="roundRect">
            <a:avLst/>
          </a:prstGeom>
          <a:solidFill>
            <a:srgbClr val="FFF1E7"/>
          </a:solidFill>
          <a:ln w="12700">
            <a:solidFill>
              <a:srgbClr val="E7DED0"/>
            </a:solidFill>
          </a:ln>
          <a:effectLst>
            <a:glow rad="101600">
              <a:srgbClr val="E04E39">
                <a:alpha val="30000"/>
              </a:srgbClr>
            </a:glow>
            <a:outerShdw blurRad="228600" dist="76200" dir="5400000">
              <a:srgbClr val="0B132B">
                <a:alpha val="12000"/>
              </a:srgb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28600" bIns="228600">
            <a:normAutofit/>
          </a:bodyPr>
          <a:lstStyle/>
          <a:p>
            <a:pPr algn="l">
              <a:defRPr sz="2800" b="1">
                <a:solidFill>
                  <a:srgbClr val="E04E39"/>
                </a:solidFill>
                <a:latin typeface="DejaVu Sans Mono"/>
              </a:defRPr>
            </a:pPr>
            <a:r>
              <a:rPr/>
              <a:t>02</a:t>
            </a:r>
          </a:p>
          <a:p>
            <a:pPr algn="l">
              <a:spcBef>
                <a:spcPts val="400"/>
              </a:spcBef>
              <a:defRPr sz="2000" b="1">
                <a:solidFill>
                  <a:srgbClr val="0B132B"/>
                </a:solidFill>
                <a:latin typeface="DejaVu Serif"/>
              </a:defRPr>
            </a:pPr>
            <a:r>
              <a:rPr/>
              <a:t>Space-aware text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defRPr sz="1200">
                <a:solidFill>
                  <a:srgbClr val="5C677D"/>
                </a:solidFill>
                <a:latin typeface="DejaVu Sans"/>
              </a:defRPr>
            </a:pPr>
            <a:r>
              <a:rPr/>
              <a:t>Headlines fit their box by font metric, then auto-shrink if a human edits.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0063" y="2070100"/>
            <a:ext cx="3522032" cy="1987550"/>
          </a:xfrm>
          <a:prstGeom prst="roundRect">
            <a:avLst/>
          </a:prstGeom>
          <a:solidFill>
            <a:srgbClr val="FBF5EC"/>
          </a:solidFill>
          <a:ln w="12700">
            <a:solidFill>
              <a:srgbClr val="E7DED0"/>
            </a:solidFill>
          </a:ln>
          <a:effectLst>
            <a:outerShdw blurRad="228600" dist="76200" dir="5400000">
              <a:srgbClr val="0B132B">
                <a:alpha val="12000"/>
              </a:srgb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28600" bIns="228600">
            <a:normAutofit/>
          </a:bodyPr>
          <a:lstStyle/>
          <a:p>
            <a:pPr algn="l">
              <a:defRPr sz="2800" b="1">
                <a:solidFill>
                  <a:srgbClr val="E04E39"/>
                </a:solidFill>
                <a:latin typeface="DejaVu Sans Mono"/>
              </a:defRPr>
            </a:pPr>
            <a:r>
              <a:rPr/>
              <a:t>03</a:t>
            </a:r>
          </a:p>
          <a:p>
            <a:pPr algn="l">
              <a:spcBef>
                <a:spcPts val="400"/>
              </a:spcBef>
              <a:defRPr sz="2000" b="1">
                <a:solidFill>
                  <a:srgbClr val="0B132B"/>
                </a:solidFill>
                <a:latin typeface="DejaVu Serif"/>
              </a:defRPr>
            </a:pPr>
            <a:r>
              <a:rPr/>
              <a:t>Design tokens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defRPr sz="1200">
                <a:solidFill>
                  <a:srgbClr val="5C677D"/>
                </a:solidFill>
                <a:latin typeface="DejaVu Sans"/>
              </a:defRPr>
            </a:pPr>
            <a:r>
              <a:rPr/>
              <a:t>One palette and typography spec drives every recipe and chart palette.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4260850"/>
            <a:ext cx="3522032" cy="1987550"/>
          </a:xfrm>
          <a:prstGeom prst="roundRect">
            <a:avLst/>
          </a:prstGeom>
          <a:solidFill>
            <a:srgbClr val="FBF5EC"/>
          </a:solidFill>
          <a:ln w="12700">
            <a:solidFill>
              <a:srgbClr val="E7DED0"/>
            </a:solidFill>
          </a:ln>
          <a:effectLst>
            <a:outerShdw blurRad="228600" dist="76200" dir="5400000">
              <a:srgbClr val="0B132B">
                <a:alpha val="12000"/>
              </a:srgb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28600" bIns="228600">
            <a:normAutofit/>
          </a:bodyPr>
          <a:lstStyle/>
          <a:p>
            <a:pPr algn="l">
              <a:defRPr sz="2800" b="1">
                <a:solidFill>
                  <a:srgbClr val="E04E39"/>
                </a:solidFill>
                <a:latin typeface="DejaVu Sans Mono"/>
              </a:defRPr>
            </a:pPr>
            <a:r>
              <a:rPr/>
              <a:t>04</a:t>
            </a:r>
          </a:p>
          <a:p>
            <a:pPr algn="l">
              <a:spcBef>
                <a:spcPts val="400"/>
              </a:spcBef>
              <a:defRPr sz="2000" b="1">
                <a:solidFill>
                  <a:srgbClr val="0B132B"/>
                </a:solidFill>
                <a:latin typeface="DejaVu Serif"/>
              </a:defRPr>
            </a:pPr>
            <a:r>
              <a:rPr/>
              <a:t>Branded charts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defRPr sz="1200">
                <a:solidFill>
                  <a:srgbClr val="5C677D"/>
                </a:solidFill>
                <a:latin typeface="DejaVu Sans"/>
              </a:defRPr>
            </a:pPr>
            <a:r>
              <a:rPr/>
              <a:t>Apply a named palette + opinionated layout in two lines per chart.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832" y="4260850"/>
            <a:ext cx="3522032" cy="1987550"/>
          </a:xfrm>
          <a:prstGeom prst="roundRect">
            <a:avLst/>
          </a:prstGeom>
          <a:solidFill>
            <a:srgbClr val="FFF1E7"/>
          </a:solidFill>
          <a:ln w="12700">
            <a:solidFill>
              <a:srgbClr val="E7DED0"/>
            </a:solidFill>
          </a:ln>
          <a:effectLst>
            <a:glow rad="101600">
              <a:srgbClr val="E04E39">
                <a:alpha val="30000"/>
              </a:srgbClr>
            </a:glow>
            <a:outerShdw blurRad="228600" dist="76200" dir="5400000">
              <a:srgbClr val="0B132B">
                <a:alpha val="12000"/>
              </a:srgb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28600" bIns="228600">
            <a:normAutofit/>
          </a:bodyPr>
          <a:lstStyle/>
          <a:p>
            <a:pPr algn="l">
              <a:defRPr sz="2800" b="1">
                <a:solidFill>
                  <a:srgbClr val="E04E39"/>
                </a:solidFill>
                <a:latin typeface="DejaVu Sans Mono"/>
              </a:defRPr>
            </a:pPr>
            <a:r>
              <a:rPr/>
              <a:t>05</a:t>
            </a:r>
          </a:p>
          <a:p>
            <a:pPr algn="l">
              <a:spcBef>
                <a:spcPts val="400"/>
              </a:spcBef>
              <a:defRPr sz="2000" b="1">
                <a:solidFill>
                  <a:srgbClr val="0B132B"/>
                </a:solidFill>
                <a:latin typeface="DejaVu Serif"/>
              </a:defRPr>
            </a:pPr>
            <a:r>
              <a:rPr/>
              <a:t>Lint-on-save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defRPr sz="1200">
                <a:solidFill>
                  <a:srgbClr val="5C677D"/>
                </a:solidFill>
                <a:latin typeface="DejaVu Sans"/>
              </a:defRPr>
            </a:pPr>
            <a:r>
              <a:rPr/>
              <a:t>Off-slide shapes are nudged back in; text overflow is flagged before save.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0063" y="4260850"/>
            <a:ext cx="3522032" cy="1987550"/>
          </a:xfrm>
          <a:prstGeom prst="roundRect">
            <a:avLst/>
          </a:prstGeom>
          <a:solidFill>
            <a:srgbClr val="FBF5EC"/>
          </a:solidFill>
          <a:ln w="12700">
            <a:solidFill>
              <a:srgbClr val="E7DED0"/>
            </a:solidFill>
          </a:ln>
          <a:effectLst>
            <a:outerShdw blurRad="228600" dist="76200" dir="5400000">
              <a:srgbClr val="0B132B">
                <a:alpha val="12000"/>
              </a:srgbClr>
            </a:outerShdw>
            <a:softEdge rad="12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28600" bIns="228600">
            <a:normAutofit/>
          </a:bodyPr>
          <a:lstStyle/>
          <a:p>
            <a:pPr algn="l">
              <a:defRPr sz="2800" b="1">
                <a:solidFill>
                  <a:srgbClr val="E04E39"/>
                </a:solidFill>
                <a:latin typeface="DejaVu Sans Mono"/>
              </a:defRPr>
            </a:pPr>
            <a:r>
              <a:rPr/>
              <a:t>06</a:t>
            </a:r>
          </a:p>
          <a:p>
            <a:pPr algn="l">
              <a:spcBef>
                <a:spcPts val="400"/>
              </a:spcBef>
              <a:defRPr sz="2000" b="1">
                <a:solidFill>
                  <a:srgbClr val="0B132B"/>
                </a:solidFill>
                <a:latin typeface="DejaVu Serif"/>
              </a:defRPr>
            </a:pPr>
            <a:r>
              <a:rPr/>
              <a:t>API ergonomics</a:t>
            </a:r>
          </a:p>
          <a:p>
            <a:pPr algn="l">
              <a:lnSpc>
                <a:spcPct val="135000"/>
              </a:lnSpc>
              <a:spcBef>
                <a:spcPts val="600"/>
              </a:spcBef>
              <a:defRPr sz="1200">
                <a:solidFill>
                  <a:srgbClr val="5C677D"/>
                </a:solidFill>
                <a:latin typeface="DejaVu Sans"/>
              </a:defRPr>
            </a:pPr>
            <a:r>
              <a:rPr/>
              <a:t>Reads never mutate XML. Effects clear cleanly. Everything round-trips.</a:t>
            </a:r>
          </a:p>
        </p:txBody>
      </p:sp>
    </p:spTree>
  </p:cSld>
  <p:clrMapOvr>
    <a:masterClrMapping/>
  </p:clrMapOvr>
  <p:transition xmlns:ns0="http://schemas.microsoft.com/office/powerpoint/2010/main" ns0:dur="5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04E39"/>
              </a:gs>
              <a:gs pos="100000">
                <a:srgbClr val="0B132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>
                <a:solidFill>
                  <a:srgbClr val="FFFFFF"/>
                </a:solidFill>
              </a:defRPr>
            </a:pPr>
            <a:r>
              <a:rPr sz="3800" b="1" i="0">
                <a:latin typeface="DejaVu Serif"/>
              </a:rPr>
              <a:t>Pricing built for teams that ship</a:t>
            </a:r>
            <a:endParaRPr sz="3800" b="1" i="0">
              <a:latin typeface="DejaVu Serif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12800" y="2184400"/>
            <a:ext cx="3352698" cy="386080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30200" rIns="330200" tIns="304800" bIns="304800">
            <a:norm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rPr/>
              <a:t>Starter</a:t>
            </a:r>
          </a:p>
          <a:p>
            <a:pPr algn="l">
              <a:spcBef>
                <a:spcPts val="600"/>
              </a:spcBef>
              <a:defRPr sz="4000" b="1">
                <a:solidFill>
                  <a:srgbClr val="FFFFFF"/>
                </a:solidFill>
                <a:latin typeface="DejaVu Serif"/>
              </a:defRPr>
            </a:pPr>
            <a:r>
              <a:rPr/>
              <a:t>Free</a:t>
            </a:r>
          </a:p>
          <a:p>
            <a:pPr>
              <a:spcBef>
                <a:spcPts val="800"/>
              </a:spcBef>
            </a:pPr>
          </a:p>
          <a:p>
            <a:pPr algn="l">
              <a:lnSpc>
                <a:spcPct val="145000"/>
              </a:lnSpc>
              <a:defRPr sz="1400">
                <a:solidFill>
                  <a:srgbClr val="FFFFFF"/>
                </a:solidFill>
                <a:latin typeface="DejaVu Sans"/>
              </a:defRPr>
            </a:pPr>
            <a:r>
              <a:rPr/>
              <a:t>•  10 decks / month</a:t>
            </a:r>
          </a:p>
          <a:p>
            <a:pPr algn="l">
              <a:lnSpc>
                <a:spcPct val="145000"/>
              </a:lnSpc>
              <a:defRPr sz="1400">
                <a:solidFill>
                  <a:srgbClr val="FFFFFF"/>
                </a:solidFill>
                <a:latin typeface="DejaVu Sans"/>
              </a:defRPr>
            </a:pPr>
            <a:r>
              <a:rPr/>
              <a:t>•  Lint + auto-fix</a:t>
            </a:r>
          </a:p>
          <a:p>
            <a:pPr algn="l">
              <a:lnSpc>
                <a:spcPct val="145000"/>
              </a:lnSpc>
              <a:defRPr sz="1400">
                <a:solidFill>
                  <a:srgbClr val="FFFFFF"/>
                </a:solidFill>
                <a:latin typeface="DejaVu Sans"/>
              </a:defRPr>
            </a:pPr>
            <a:r>
              <a:rPr/>
              <a:t>•  Community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9498" y="2184400"/>
            <a:ext cx="3352698" cy="3860800"/>
          </a:xfrm>
          <a:prstGeom prst="roundRect">
            <a:avLst/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30000"/>
              </a:srgbClr>
            </a:solidFill>
          </a:ln>
          <a:effectLst>
            <a:glow rad="152400">
              <a:srgbClr val="F4B860">
                <a:alpha val="40000"/>
              </a:srgbClr>
            </a:glow>
            <a:outerShdw blurRad="406400" dist="152400" dir="540000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30200" rIns="330200" tIns="304800" bIns="304800">
            <a:normAutofit/>
          </a:bodyPr>
          <a:lstStyle/>
          <a:p>
            <a:pPr algn="l">
              <a:defRPr sz="1400" b="1">
                <a:solidFill>
                  <a:srgbClr val="E04E39"/>
                </a:solidFill>
                <a:latin typeface="DejaVu Sans"/>
              </a:defRPr>
            </a:pPr>
            <a:r>
              <a:rPr/>
              <a:t>Studio</a:t>
            </a:r>
          </a:p>
          <a:p>
            <a:pPr algn="l">
              <a:spcBef>
                <a:spcPts val="600"/>
              </a:spcBef>
              <a:defRPr sz="4000" b="1">
                <a:solidFill>
                  <a:srgbClr val="0B132B"/>
                </a:solidFill>
                <a:latin typeface="DejaVu Serif"/>
              </a:defRPr>
            </a:pPr>
            <a:r>
              <a:rPr/>
              <a:t>$49 / mo</a:t>
            </a:r>
          </a:p>
          <a:p>
            <a:pPr>
              <a:spcBef>
                <a:spcPts val="800"/>
              </a:spcBef>
            </a:pPr>
          </a:p>
          <a:p>
            <a:pPr algn="l">
              <a:lnSpc>
                <a:spcPct val="145000"/>
              </a:lnSpc>
              <a:defRPr sz="1400">
                <a:solidFill>
                  <a:srgbClr val="5C677D"/>
                </a:solidFill>
                <a:latin typeface="DejaVu Sans"/>
              </a:defRPr>
            </a:pPr>
            <a:r>
              <a:rPr/>
              <a:t>•  Unlimited decks</a:t>
            </a:r>
          </a:p>
          <a:p>
            <a:pPr algn="l">
              <a:lnSpc>
                <a:spcPct val="145000"/>
              </a:lnSpc>
              <a:defRPr sz="1400">
                <a:solidFill>
                  <a:srgbClr val="5C677D"/>
                </a:solidFill>
                <a:latin typeface="DejaVu Sans"/>
              </a:defRPr>
            </a:pPr>
            <a:r>
              <a:rPr/>
              <a:t>•  Brand tokens</a:t>
            </a:r>
          </a:p>
          <a:p>
            <a:pPr algn="l">
              <a:lnSpc>
                <a:spcPct val="145000"/>
              </a:lnSpc>
              <a:defRPr sz="1400">
                <a:solidFill>
                  <a:srgbClr val="5C677D"/>
                </a:solidFill>
                <a:latin typeface="DejaVu Sans"/>
              </a:defRPr>
            </a:pPr>
            <a:r>
              <a:rPr/>
              <a:t>•  Email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6197" y="2184400"/>
            <a:ext cx="3352698" cy="3860800"/>
          </a:xfrm>
          <a:prstGeom prst="round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30200" rIns="330200" tIns="304800" bIns="304800">
            <a:norm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DejaVu Sans"/>
              </a:defRPr>
            </a:pPr>
            <a:r>
              <a:rPr/>
              <a:t>Enterprise</a:t>
            </a:r>
          </a:p>
          <a:p>
            <a:pPr algn="l">
              <a:spcBef>
                <a:spcPts val="600"/>
              </a:spcBef>
              <a:defRPr sz="4000" b="1">
                <a:solidFill>
                  <a:srgbClr val="FFFFFF"/>
                </a:solidFill>
                <a:latin typeface="DejaVu Serif"/>
              </a:defRPr>
            </a:pPr>
            <a:r>
              <a:rPr/>
              <a:t>Custom</a:t>
            </a:r>
          </a:p>
          <a:p>
            <a:pPr>
              <a:spcBef>
                <a:spcPts val="800"/>
              </a:spcBef>
            </a:pPr>
          </a:p>
          <a:p>
            <a:pPr algn="l">
              <a:lnSpc>
                <a:spcPct val="145000"/>
              </a:lnSpc>
              <a:defRPr sz="1400">
                <a:solidFill>
                  <a:srgbClr val="FFFFFF"/>
                </a:solidFill>
                <a:latin typeface="DejaVu Sans"/>
              </a:defRPr>
            </a:pPr>
            <a:r>
              <a:rPr/>
              <a:t>•  SSO + audit log</a:t>
            </a:r>
          </a:p>
          <a:p>
            <a:pPr algn="l">
              <a:lnSpc>
                <a:spcPct val="145000"/>
              </a:lnSpc>
              <a:defRPr sz="1400">
                <a:solidFill>
                  <a:srgbClr val="FFFFFF"/>
                </a:solidFill>
                <a:latin typeface="DejaVu Sans"/>
              </a:defRPr>
            </a:pPr>
            <a:r>
              <a:rPr/>
              <a:t>•  On-prem render</a:t>
            </a:r>
          </a:p>
          <a:p>
            <a:pPr algn="l">
              <a:lnSpc>
                <a:spcPct val="145000"/>
              </a:lnSpc>
              <a:defRPr sz="1400">
                <a:solidFill>
                  <a:srgbClr val="FFFFFF"/>
                </a:solidFill>
                <a:latin typeface="DejaVu Sans"/>
              </a:defRPr>
            </a:pPr>
            <a:r>
              <a:rPr/>
              <a:t>•  Dedicated success</a:t>
            </a:r>
          </a:p>
        </p:txBody>
      </p:sp>
    </p:spTree>
  </p:cSld>
  <p:clrMapOvr>
    <a:masterClrMapping/>
  </p:clrMapOvr>
  <p:transition xmlns:ns0="http://schemas.microsoft.com/office/powerpoint/2010/main" ns0:dur="5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5156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>
                <a:solidFill>
                  <a:srgbClr val="0B132B"/>
                </a:solidFill>
              </a:defRPr>
            </a:pPr>
            <a:r>
              <a:rPr sz="3200" b="1" i="0">
                <a:latin typeface="DejaVu Serif"/>
              </a:rPr>
              <a:t>What's next on the roadmap</a:t>
            </a:r>
            <a:endParaRPr sz="3200" b="1" i="0">
              <a:latin typeface="DejaVu 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5C677D"/>
                </a:solidFill>
                <a:latin typeface="DejaVu Sans"/>
              </a:defRPr>
            </a:pPr>
            <a:r>
              <a:rPr/>
              <a:t>Q2 → Q4 2026 — milestones, not promises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023360"/>
            <a:ext cx="9966960" cy="27432"/>
          </a:xfrm>
          <a:prstGeom prst="rect">
            <a:avLst/>
          </a:prstGeom>
          <a:solidFill>
            <a:srgbClr val="E7DE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932688" y="3904487"/>
            <a:ext cx="329184" cy="329184"/>
          </a:xfrm>
          <a:prstGeom prst="ellipse">
            <a:avLst/>
          </a:prstGeom>
          <a:solidFill>
            <a:srgbClr val="F4B860"/>
          </a:solidFill>
          <a:ln w="31750">
            <a:solidFill>
              <a:srgbClr val="FFFFFF"/>
            </a:solidFill>
          </a:ln>
          <a:effectLst>
            <a:outerShdw blurRad="101600" dist="25400">
              <a:srgbClr val="0B132B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82879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B860"/>
                </a:solidFill>
                <a:latin typeface="DejaVu Sans Mono"/>
              </a:defRPr>
            </a:pPr>
            <a:r>
              <a:rPr/>
              <a:t>Q2 '26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4348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B132B"/>
                </a:solidFill>
                <a:latin typeface="DejaVu Serif"/>
              </a:defRPr>
            </a:pPr>
            <a:r>
              <a:rPr/>
              <a:t>Public beta</a:t>
            </a:r>
          </a:p>
        </p:txBody>
      </p:sp>
      <p:sp>
        <p:nvSpPr>
          <p:cNvPr id="9" name="Oval 8"/>
          <p:cNvSpPr/>
          <p:nvPr/>
        </p:nvSpPr>
        <p:spPr>
          <a:xfrm>
            <a:off x="3424427" y="3904487"/>
            <a:ext cx="329184" cy="329184"/>
          </a:xfrm>
          <a:prstGeom prst="ellipse">
            <a:avLst/>
          </a:prstGeom>
          <a:solidFill>
            <a:srgbClr val="E04E39"/>
          </a:solidFill>
          <a:ln w="31750">
            <a:solidFill>
              <a:srgbClr val="FFFFFF"/>
            </a:solidFill>
          </a:ln>
          <a:effectLst>
            <a:outerShdw blurRad="101600" dist="25400">
              <a:srgbClr val="0B132B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67462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04E39"/>
                </a:solidFill>
                <a:latin typeface="DejaVu Sans Mono"/>
              </a:defRPr>
            </a:pPr>
            <a:r>
              <a:rPr/>
              <a:t>Q3 '26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6020" y="44348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B132B"/>
                </a:solidFill>
                <a:latin typeface="DejaVu Serif"/>
              </a:defRPr>
            </a:pPr>
            <a:r>
              <a:rPr/>
              <a:t>Brand template marketplace</a:t>
            </a:r>
          </a:p>
        </p:txBody>
      </p:sp>
      <p:sp>
        <p:nvSpPr>
          <p:cNvPr id="12" name="Oval 11"/>
          <p:cNvSpPr/>
          <p:nvPr/>
        </p:nvSpPr>
        <p:spPr>
          <a:xfrm>
            <a:off x="5916168" y="3904487"/>
            <a:ext cx="329184" cy="329184"/>
          </a:xfrm>
          <a:prstGeom prst="ellipse">
            <a:avLst/>
          </a:prstGeom>
          <a:solidFill>
            <a:srgbClr val="2E8B57"/>
          </a:solidFill>
          <a:ln w="31750">
            <a:solidFill>
              <a:srgbClr val="FFFFFF"/>
            </a:solidFill>
          </a:ln>
          <a:effectLst>
            <a:outerShdw blurRad="101600" dist="25400">
              <a:srgbClr val="0B132B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16636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8B57"/>
                </a:solidFill>
                <a:latin typeface="DejaVu Sans Mono"/>
              </a:defRPr>
            </a:pPr>
            <a:r>
              <a:rPr/>
              <a:t>Q4 '26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4348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B132B"/>
                </a:solidFill>
                <a:latin typeface="DejaVu Serif"/>
              </a:defRPr>
            </a:pPr>
            <a:r>
              <a:rPr/>
              <a:t>Real-time collaboration</a:t>
            </a:r>
          </a:p>
        </p:txBody>
      </p:sp>
      <p:sp>
        <p:nvSpPr>
          <p:cNvPr id="15" name="Oval 14"/>
          <p:cNvSpPr/>
          <p:nvPr/>
        </p:nvSpPr>
        <p:spPr>
          <a:xfrm>
            <a:off x="8407908" y="3904487"/>
            <a:ext cx="329184" cy="329184"/>
          </a:xfrm>
          <a:prstGeom prst="ellipse">
            <a:avLst/>
          </a:prstGeom>
          <a:solidFill>
            <a:srgbClr val="4A7C8C"/>
          </a:solidFill>
          <a:ln w="31750">
            <a:solidFill>
              <a:srgbClr val="FFFFFF"/>
            </a:solidFill>
          </a:ln>
          <a:effectLst>
            <a:outerShdw blurRad="101600" dist="25400">
              <a:srgbClr val="0B132B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765810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7C8C"/>
                </a:solidFill>
                <a:latin typeface="DejaVu Sans Mono"/>
              </a:defRPr>
            </a:pPr>
            <a:r>
              <a:rPr/>
              <a:t>Q1 '27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0" y="44348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B132B"/>
                </a:solidFill>
                <a:latin typeface="DejaVu Serif"/>
              </a:defRPr>
            </a:pPr>
            <a:r>
              <a:rPr/>
              <a:t>On-prem render farm</a:t>
            </a:r>
          </a:p>
        </p:txBody>
      </p:sp>
      <p:sp>
        <p:nvSpPr>
          <p:cNvPr id="18" name="Oval 17"/>
          <p:cNvSpPr/>
          <p:nvPr/>
        </p:nvSpPr>
        <p:spPr>
          <a:xfrm>
            <a:off x="10899648" y="3904487"/>
            <a:ext cx="329184" cy="329184"/>
          </a:xfrm>
          <a:prstGeom prst="ellipse">
            <a:avLst/>
          </a:prstGeom>
          <a:solidFill>
            <a:srgbClr val="0B132B"/>
          </a:solidFill>
          <a:ln w="31750">
            <a:solidFill>
              <a:srgbClr val="FFFFFF"/>
            </a:solidFill>
          </a:ln>
          <a:effectLst>
            <a:outerShdw blurRad="101600" dist="25400">
              <a:srgbClr val="0B132B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0149840" y="3108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132B"/>
                </a:solidFill>
                <a:latin typeface="DejaVu Sans Mono"/>
              </a:defRPr>
            </a:pPr>
            <a:r>
              <a:rPr/>
              <a:t>Q2 '27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5695" y="44348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B132B"/>
                </a:solidFill>
                <a:latin typeface="DejaVu Serif"/>
              </a:defRPr>
            </a:pPr>
            <a:r>
              <a:rPr/>
              <a:t>1.0 release</a:t>
            </a:r>
          </a:p>
        </p:txBody>
      </p:sp>
    </p:spTree>
  </p:cSld>
  <p:clrMapOvr>
    <a:masterClrMapping/>
  </p:clrMapOvr>
  <p:transition xmlns:ns0="http://schemas.microsoft.com/office/powerpoint/2010/main" ns0:dur="700">
    <p:push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5600" b="1" i="0">
                <a:latin typeface="DejaVu Serif"/>
              </a:rPr>
              <a:t>Ship the next deck before lunch.</a:t>
            </a:r>
            <a:endParaRPr sz="5600" b="1" i="0">
              <a:latin typeface="DejaVu 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4B860"/>
                </a:solidFill>
                <a:latin typeface="DejaVu Sans Mono"/>
              </a:defRPr>
            </a:pPr>
            <a:r>
              <a:rPr/>
              <a:t>espresso.dev   ·   thanks@espresso.dev   ·   @espresso_dev</a:t>
            </a:r>
          </a:p>
        </p:txBody>
      </p:sp>
    </p:spTree>
  </p:cSld>
  <p:clrMapOvr>
    <a:masterClrMapping/>
  </p:clrMapOvr>
  <p:transition xmlns:ns0="http://schemas.microsoft.com/office/powerpoint/2010/main" ns0: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