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Enterprise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38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Mid-market</c:v>
                </c:pt>
              </c:strCache>
            </c:strRef>
          </c:tx>
          <c:spPr>
            <a:solidFill>
              <a:srgbClr val="F4B860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32</c:v>
                </c:pt>
                <c:pt idx="1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SMB</c:v>
                </c:pt>
              </c:strCache>
            </c:strRef>
          </c:tx>
          <c:spPr>
            <a:solidFill>
              <a:srgbClr val="2E8B57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18</c:v>
                </c:pt>
                <c:pt idx="1">
                  <c:v>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Self-serve</c:v>
                </c:pt>
              </c:strCache>
            </c:strRef>
          </c:tx>
          <c:spPr>
            <a:solidFill>
              <a:srgbClr val="4A7C8C"/>
            </a:solidFill>
          </c:spPr>
          <c:cat>
            <c:strRef>
              <c:f>Sheet1!$A$2:$A$3</c:f>
              <c:strCache>
                <c:ptCount val="2"/>
                <c:pt idx="0">
                  <c:v>Q1 '26 actual</c:v>
                </c:pt>
                <c:pt idx="1">
                  <c:v>Q2 '26 target</c:v>
                </c:pt>
              </c:strCache>
            </c: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12</c:v>
                </c:pt>
                <c:pt idx="1">
                  <c:v>6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Q1 actual</c:v>
                </c:pt>
              </c:strCache>
            </c:strRef>
          </c:tx>
          <c:spPr>
            <a:solidFill>
              <a:srgbClr val="5C677D"/>
            </a:solidFill>
          </c:spPr>
          <c:cat>
            <c:strRef>
              <c:f>Sheet1!$A$2:$A$5</c:f>
              <c:strCache>
                <c:ptCount val="4"/>
                <c:pt idx="0">
                  <c:v>Pipeline cov.</c:v>
                </c:pt>
                <c:pt idx="1">
                  <c:v>Deal size</c:v>
                </c:pt>
                <c:pt idx="2">
                  <c:v>Time to close</c:v>
                </c:pt>
                <c:pt idx="3">
                  <c:v>Win rate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3.1</c:v>
                </c:pt>
                <c:pt idx="1">
                  <c:v>71</c:v>
                </c:pt>
                <c:pt idx="2">
                  <c:v>54</c:v>
                </c:pt>
                <c:pt idx="3">
                  <c:v>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Q2 target</c:v>
                </c:pt>
              </c:strCache>
            </c:strRef>
          </c:tx>
          <c:spPr>
            <a:solidFill>
              <a:srgbClr val="E04E39"/>
            </a:solidFill>
          </c:spPr>
          <c:cat>
            <c:strRef>
              <c:f>Sheet1!$A$2:$A$5</c:f>
              <c:strCache>
                <c:ptCount val="4"/>
                <c:pt idx="0">
                  <c:v>Pipeline cov.</c:v>
                </c:pt>
                <c:pt idx="1">
                  <c:v>Deal size</c:v>
                </c:pt>
                <c:pt idx="2">
                  <c:v>Time to close</c:v>
                </c:pt>
                <c:pt idx="3">
                  <c:v>Win rate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3.6</c:v>
                </c:pt>
                <c:pt idx="1">
                  <c:v>82</c:v>
                </c:pt>
                <c:pt idx="2">
                  <c:v>47</c:v>
                </c:pt>
                <c:pt idx="3">
                  <c:v>34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axMin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6035040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/>
          <p:cNvSpPr txBox="1"/>
          <p:nvPr/>
        </p:nvSpPr>
        <p:spPr>
          <a:xfrm>
            <a:off x="640080" y="91440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4B860"/>
                </a:solidFill>
                <a:latin typeface="DejaVu Sans"/>
              </a:defRPr>
            </a:pPr>
            <a:r>
              <a:rPr/>
              <a:t>Q2 2026 — SALES PLAYBOOK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54480"/>
            <a:ext cx="5120640" cy="4114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FFFFFF"/>
                </a:solidFill>
              </a:defRPr>
            </a:pPr>
            <a:r>
              <a:rPr sz="5800" b="1" i="0">
                <a:latin typeface="DejaVu Serif"/>
              </a:rPr>
              <a:t>Sell the value, not the seat.</a:t>
            </a:r>
            <a:endParaRPr sz="5800" b="1" i="0">
              <a:latin typeface="DejaVu Serif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40080" y="603504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i="1">
                <a:solidFill>
                  <a:srgbClr val="F4B860"/>
                </a:solidFill>
                <a:latin typeface="DejaVu Sans"/>
              </a:defRPr>
            </a:pPr>
            <a:r>
              <a:rPr/>
              <a:t>Internal · Field Sales · Updated 17 May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defRPr sz="2200" i="1">
                <a:solidFill>
                  <a:srgbClr val="0B132B"/>
                </a:solidFill>
                <a:latin typeface="DejaVu Serif"/>
              </a:defRPr>
            </a:pPr>
            <a:r>
              <a:rPr/>
              <a:t>“The best reps don't pitch features — they reframe budget, risk, and time-to-value until the deal closes itself.”</a:t>
            </a:r>
          </a:p>
        </p:txBody>
      </p:sp>
    </p:spTree>
  </p:cSld>
  <p:clrMapOvr>
    <a:masterClrMapping/>
  </p:clrMapOvr>
  <p:transition xmlns:ns0="http://schemas.microsoft.com/office/powerpoint/2010/main" ns0:dur="1200">
    <ns0:morph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Agenda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Six sections, twenty minutes — questions at the end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01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The new positioning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Where we sit in the FY26 buyer's mental map.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2476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02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Do / Don't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Six habits to adopt this quarter; six to drop.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22072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03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The five-call process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How we move a qualified opp from intro to signed MSA.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91668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04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Pipeline mix targets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Segment split that hits the FY26 number.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61264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05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Top objection cheatsheet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The four objections that lose 80% of the closed-lost.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5308600"/>
            <a:ext cx="10515600" cy="594360"/>
          </a:xfrm>
          <a:prstGeom prst="rect">
            <a:avLst/>
          </a:prstGeom>
          <a:solidFill>
            <a:srgbClr val="FBF5EC"/>
          </a:solidFill>
          <a:ln w="635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0" rIns="254000" tIns="101600" bIns="101600"/>
          <a:lstStyle/>
          <a:p>
            <a:pPr algn="l"/>
            <a:r>
              <a:rPr sz="1600" b="1">
                <a:solidFill>
                  <a:srgbClr val="E04E39"/>
                </a:solidFill>
                <a:latin typeface="DejaVu Sans Mono"/>
              </a:rPr>
              <a:t>06   </a:t>
            </a:r>
            <a:r>
              <a:rPr sz="1800" b="1">
                <a:solidFill>
                  <a:srgbClr val="0B132B"/>
                </a:solidFill>
                <a:latin typeface="DejaVu Serif"/>
              </a:rPr>
              <a:t>Q2 KPIs and accountability</a:t>
            </a:r>
            <a:r>
              <a:rPr sz="1400" i="1">
                <a:solidFill>
                  <a:srgbClr val="5C677D"/>
                </a:solidFill>
                <a:latin typeface="DejaVu Sans"/>
              </a:rPr>
              <a:t>   —   What good looks like — and who owns each metric.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Do / Don't — this quarter's habits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Six adds; six removes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5349240" cy="429768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5600" rIns="355600" tIns="304800" bIns="304800">
            <a:normAutofit/>
          </a:bodyPr>
          <a:lstStyle/>
          <a:p>
            <a:pPr algn="l">
              <a:defRPr sz="1600" b="1">
                <a:solidFill>
                  <a:srgbClr val="2E8B57"/>
                </a:solidFill>
                <a:latin typeface="DejaVu Sans"/>
              </a:defRPr>
            </a:pPr>
            <a:r>
              <a:rPr/>
              <a:t>DO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Lead with the customer's number, not ours.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Send a recap in the same 90-minute window.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Bring a peer reference to call #2.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Quote in the customer's currency.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Mirror exec language verbatim in proposals.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✓ Always include a 12-week success plan.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1828800"/>
            <a:ext cx="5349240" cy="429768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54000" dist="762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55600" rIns="355600" tIns="304800" bIns="304800">
            <a:normAutofit/>
          </a:bodyPr>
          <a:lstStyle/>
          <a:p>
            <a:pPr algn="l">
              <a:defRPr sz="1600" b="1">
                <a:solidFill>
                  <a:srgbClr val="C0392B"/>
                </a:solidFill>
                <a:latin typeface="DejaVu Sans"/>
              </a:defRPr>
            </a:pPr>
            <a:r>
              <a:rPr/>
              <a:t>DON'T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Open with the feature deck.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Wait 48 hours to send the recap.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Save the reference for legal.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Quote in USD when buyer pays in EUR.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Rewrite their objection in our jargon.</a:t>
            </a:r>
          </a:p>
          <a:p>
            <a:pPr algn="l">
              <a:lnSpc>
                <a:spcPct val="145000"/>
              </a:lnSpc>
              <a:spcBef>
                <a:spcPts val="800"/>
              </a:spcBef>
              <a:defRPr sz="1500">
                <a:solidFill>
                  <a:srgbClr val="0B132B"/>
                </a:solidFill>
                <a:latin typeface="DejaVu Sans"/>
              </a:defRPr>
            </a:pPr>
            <a:r>
              <a:rPr/>
              <a:t>✗ Skip the success plan to close faster.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The five-call process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From intro to signed MSA in eight weeks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1816547" cy="1280160"/>
          </a:xfrm>
          <a:prstGeom prst="roundRect">
            <a:avLst/>
          </a:prstGeom>
          <a:solidFill>
            <a:srgbClr val="F4B860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Intro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Discovery + qualify</a:t>
            </a:r>
          </a:p>
        </p:txBody>
      </p:sp>
      <p:sp>
        <p:nvSpPr>
          <p:cNvPr id="6" name="Right Triangle 5"/>
          <p:cNvSpPr/>
          <p:nvPr/>
        </p:nvSpPr>
        <p:spPr>
          <a:xfrm rot="5400000">
            <a:off x="2456627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ounded Rectangle 6"/>
          <p:cNvSpPr/>
          <p:nvPr/>
        </p:nvSpPr>
        <p:spPr>
          <a:xfrm>
            <a:off x="2913827" y="2377440"/>
            <a:ext cx="1816547" cy="1280160"/>
          </a:xfrm>
          <a:prstGeom prst="roundRect">
            <a:avLst/>
          </a:prstGeom>
          <a:solidFill>
            <a:srgbClr val="E04E39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Demo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Tailored, w/ peer ref</a:t>
            </a:r>
          </a:p>
        </p:txBody>
      </p:sp>
      <p:sp>
        <p:nvSpPr>
          <p:cNvPr id="8" name="Right Triangle 7"/>
          <p:cNvSpPr/>
          <p:nvPr/>
        </p:nvSpPr>
        <p:spPr>
          <a:xfrm rot="5400000">
            <a:off x="4730374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/>
          <p:cNvSpPr/>
          <p:nvPr/>
        </p:nvSpPr>
        <p:spPr>
          <a:xfrm>
            <a:off x="5187574" y="2377440"/>
            <a:ext cx="1816547" cy="128016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>
            <a:norm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Champion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Value hypothesis + budget</a:t>
            </a:r>
          </a:p>
        </p:txBody>
      </p:sp>
      <p:sp>
        <p:nvSpPr>
          <p:cNvPr id="10" name="Right Triangle 9"/>
          <p:cNvSpPr/>
          <p:nvPr/>
        </p:nvSpPr>
        <p:spPr>
          <a:xfrm rot="5400000">
            <a:off x="7004121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ounded Rectangle 10"/>
          <p:cNvSpPr/>
          <p:nvPr/>
        </p:nvSpPr>
        <p:spPr>
          <a:xfrm>
            <a:off x="7461321" y="2377440"/>
            <a:ext cx="1816547" cy="1280160"/>
          </a:xfrm>
          <a:prstGeom prst="roundRect">
            <a:avLst/>
          </a:prstGeom>
          <a:solidFill>
            <a:srgbClr val="4A7C8C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Proposal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12-week success plan</a:t>
            </a:r>
          </a:p>
        </p:txBody>
      </p:sp>
      <p:sp>
        <p:nvSpPr>
          <p:cNvPr id="12" name="Right Triangle 11"/>
          <p:cNvSpPr/>
          <p:nvPr/>
        </p:nvSpPr>
        <p:spPr>
          <a:xfrm rot="5400000">
            <a:off x="9277868" y="2852927"/>
            <a:ext cx="320040" cy="329184"/>
          </a:xfrm>
          <a:prstGeom prst="rtTriangle">
            <a:avLst/>
          </a:prstGeom>
          <a:solidFill>
            <a:srgbClr val="D9CF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ounded Rectangle 12"/>
          <p:cNvSpPr/>
          <p:nvPr/>
        </p:nvSpPr>
        <p:spPr>
          <a:xfrm>
            <a:off x="9735068" y="2377440"/>
            <a:ext cx="1816547" cy="1280160"/>
          </a:xfrm>
          <a:prstGeom prst="roundRect">
            <a:avLst/>
          </a:prstGeom>
          <a:solidFill>
            <a:srgbClr val="0B132B"/>
          </a:solidFill>
          <a:ln>
            <a:noFill/>
          </a:ln>
          <a:effectLst>
            <a:outerShdw blurRad="101600" dist="38100">
              <a:srgbClr val="0B132B">
                <a:alpha val="2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77800" bIns="127000"/>
          <a:lstStyle/>
          <a:p>
            <a:pPr algn="ctr">
              <a:defRPr sz="2000" b="1">
                <a:solidFill>
                  <a:srgbClr val="FFFFFF"/>
                </a:solidFill>
                <a:latin typeface="DejaVu Serif"/>
              </a:defRPr>
            </a:pPr>
            <a:r>
              <a:rPr/>
              <a:t>Close</a:t>
            </a:r>
          </a:p>
          <a:p>
            <a:pPr algn="ctr">
              <a:spcBef>
                <a:spcPts val="400"/>
              </a:spcBef>
              <a:defRPr sz="1100">
                <a:solidFill>
                  <a:srgbClr val="FFFFFF"/>
                </a:solidFill>
                <a:latin typeface="DejaVu Sans"/>
              </a:defRPr>
            </a:pPr>
            <a:r>
              <a:rPr/>
              <a:t>Legal + procurement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confirm pain + power.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13827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customer pictures the win.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87574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champion sells internally.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321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agreement on price + plan.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35068" y="3886200"/>
            <a:ext cx="181654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Goal: signature within 14 days.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Pipeline mix targets — Q2 vs Q1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Share of weighted pipeline by segment (%)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822960" y="1828800"/>
          <a:ext cx="1051560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58521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i="1">
                <a:solidFill>
                  <a:srgbClr val="5C677D"/>
                </a:solidFill>
                <a:latin typeface="DejaVu Sans"/>
              </a:defRPr>
            </a:pPr>
            <a:r>
              <a:rPr/>
              <a:t>Target shifts weight to Enterprise by 12 points — funded by halving Self-serve and modest SMB compression.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Top objection cheatsheet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Four scripts that recover 80% of the closed-lost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200" y="21336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“It's too expensive.”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cost per active user vs three alternatives we already know they evaluated.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Walk through the 12-week success plan ROI; ask what number they need to hit.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22848" y="21336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“We don't have bandwidth.”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bandwidth is bigger if you DON'T do this — they keep paying the manual cost.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Offer to staff the first sprint with our solutions architect.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1200" y="42672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“We're going to build it.”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maintenance cost over 24 months vs subscription, plus opportunity cost of eng time.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Co-author a build-vs-buy memo for their CTO.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22848" y="4267200"/>
            <a:ext cx="5257648" cy="187960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  <a:effectLst>
            <a:outerShdw blurRad="228600" dist="50800">
              <a:srgbClr val="0B132B">
                <a:alpha val="1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9400" rIns="279400" tIns="254000" bIns="254000">
            <a:normAutofit/>
          </a:bodyPr>
          <a:lstStyle/>
          <a:p>
            <a:pPr algn="l">
              <a:defRPr sz="1800" i="1">
                <a:solidFill>
                  <a:srgbClr val="E04E39"/>
                </a:solidFill>
                <a:latin typeface="DejaVu Serif"/>
              </a:defRPr>
            </a:pPr>
            <a:r>
              <a:rPr/>
              <a:t>“Let's revisit next quarter.”</a:t>
            </a:r>
          </a:p>
          <a:p>
            <a:pPr algn="l">
              <a:lnSpc>
                <a:spcPct val="140000"/>
              </a:lnSpc>
              <a:spcBef>
                <a:spcPts val="1000"/>
              </a:spcBef>
              <a:defRPr sz="1300">
                <a:solidFill>
                  <a:srgbClr val="0B132B"/>
                </a:solidFill>
                <a:latin typeface="DejaVu Sans"/>
              </a:defRPr>
            </a:pPr>
            <a:r>
              <a:rPr/>
              <a:t>Reframe: what would have to be true for this to not slip again? Usually a missing piece of data.</a:t>
            </a:r>
          </a:p>
          <a:p>
            <a:pPr algn="l">
              <a:lnSpc>
                <a:spcPct val="140000"/>
              </a:lnSpc>
              <a:spcBef>
                <a:spcPts val="800"/>
              </a:spcBef>
              <a:defRPr sz="1200" b="1">
                <a:solidFill>
                  <a:srgbClr val="2E8B57"/>
                </a:solidFill>
                <a:latin typeface="DejaVu Sans"/>
              </a:defRPr>
            </a:pPr>
            <a:r>
              <a:rPr/>
              <a:t>→ Ask which decision-maker would unblock it; offer to brief them directly.</a:t>
            </a:r>
          </a:p>
        </p:txBody>
      </p:sp>
    </p:spTree>
  </p:cSld>
  <p:clrMapOvr>
    <a:masterClrMapping/>
  </p:clrMapOvr>
  <p:transition xmlns:ns0="http://schemas.microsoft.com/office/powerpoint/2010/main" ns0:dur="500">
    <p:push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411480"/>
            <a:ext cx="10515600" cy="8229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>
              <a:defRPr>
                <a:solidFill>
                  <a:srgbClr val="0B132B"/>
                </a:solidFill>
              </a:defRPr>
            </a:pPr>
            <a:r>
              <a:rPr sz="3200" b="1" i="0">
                <a:latin typeface="DejaVu Serif"/>
              </a:rPr>
              <a:t>Q2 KPIs and accountability</a:t>
            </a:r>
            <a:endParaRPr sz="32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i="1">
                <a:solidFill>
                  <a:srgbClr val="5C677D"/>
                </a:solidFill>
                <a:latin typeface="DejaVu Sans"/>
              </a:defRPr>
            </a:pPr>
            <a:r>
              <a:rPr/>
              <a:t>What good looks like, and who owns each metric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1200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Pipeline coverage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3.6×</a:t>
            </a:r>
          </a:p>
          <a:p>
            <a:pPr algn="l">
              <a:spcBef>
                <a:spcPts val="600"/>
              </a:spcBef>
              <a:defRPr sz="1000">
                <a:solidFill>
                  <a:srgbClr val="2E8B57"/>
                </a:solidFill>
                <a:latin typeface="DejaVu Sans Mono"/>
              </a:defRPr>
            </a:pPr>
            <a:r>
              <a:rPr/>
              <a:t>Owner: RVP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4324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Avg deal size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$82K</a:t>
            </a:r>
          </a:p>
          <a:p>
            <a:pPr algn="l">
              <a:spcBef>
                <a:spcPts val="600"/>
              </a:spcBef>
              <a:defRPr sz="1000">
                <a:solidFill>
                  <a:srgbClr val="2E8B57"/>
                </a:solidFill>
                <a:latin typeface="DejaVu Sans Mono"/>
              </a:defRPr>
            </a:pPr>
            <a:r>
              <a:rPr/>
              <a:t>Owner: AE Manager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7448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Time to close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47 days</a:t>
            </a:r>
          </a:p>
          <a:p>
            <a:pPr algn="l">
              <a:spcBef>
                <a:spcPts val="600"/>
              </a:spcBef>
              <a:defRPr sz="1000">
                <a:solidFill>
                  <a:srgbClr val="C0392B"/>
                </a:solidFill>
                <a:latin typeface="DejaVu Sans Mono"/>
              </a:defRPr>
            </a:pPr>
            <a:r>
              <a:rPr/>
              <a:t>Owner: SE Lead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40571" y="1838960"/>
            <a:ext cx="2539924" cy="1488440"/>
          </a:xfrm>
          <a:prstGeom prst="roundRect">
            <a:avLst/>
          </a:prstGeom>
          <a:solidFill>
            <a:srgbClr val="FBF5EC"/>
          </a:solidFill>
          <a:ln w="12700">
            <a:solidFill>
              <a:srgbClr val="E7DE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52400" bIns="152400">
            <a:normAutofit/>
          </a:bodyPr>
          <a:lstStyle/>
          <a:p>
            <a:pPr algn="l">
              <a:defRPr sz="1100">
                <a:solidFill>
                  <a:srgbClr val="5C677D"/>
                </a:solidFill>
                <a:latin typeface="DejaVu Sans"/>
              </a:defRPr>
            </a:pPr>
            <a:r>
              <a:rPr/>
              <a:t>Win rate (Ent.)</a:t>
            </a:r>
          </a:p>
          <a:p>
            <a:pPr algn="l">
              <a:spcBef>
                <a:spcPts val="400"/>
              </a:spcBef>
              <a:defRPr sz="3600" b="1">
                <a:solidFill>
                  <a:srgbClr val="0B132B"/>
                </a:solidFill>
                <a:latin typeface="DejaVu Serif"/>
              </a:defRPr>
            </a:pPr>
            <a:r>
              <a:rPr/>
              <a:t>34%</a:t>
            </a:r>
          </a:p>
          <a:p>
            <a:pPr algn="l">
              <a:spcBef>
                <a:spcPts val="600"/>
              </a:spcBef>
              <a:defRPr sz="1000">
                <a:solidFill>
                  <a:srgbClr val="2E8B57"/>
                </a:solidFill>
                <a:latin typeface="DejaVu Sans Mono"/>
              </a:defRPr>
            </a:pPr>
            <a:r>
              <a:rPr/>
              <a:t>Owner: RVP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822960" y="4572000"/>
          <a:ext cx="10515600" cy="20116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  <p:transition xmlns:ns0="http://schemas.microsoft.com/office/powerpoint/2010/main" ns0:dur="500">
    <p:push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04E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15600" cy="18288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defRPr>
                <a:solidFill>
                  <a:srgbClr val="FFFFFF"/>
                </a:solidFill>
              </a:defRPr>
            </a:pPr>
            <a:r>
              <a:rPr sz="4400" b="1" i="0">
                <a:latin typeface="DejaVu Serif"/>
              </a:rPr>
              <a:t>Bring one new champion to next week's office hours.</a:t>
            </a:r>
            <a:endParaRPr sz="4400" b="1" i="0">
              <a:latin typeface="DejaVu Serif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822960" y="45720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i="1">
                <a:solidFill>
                  <a:srgbClr val="F4B860"/>
                </a:solidFill>
                <a:latin typeface="DejaVu Sans"/>
              </a:defRPr>
            </a:pPr>
            <a:r>
              <a:rPr/>
              <a:t>Same room, every Tuesday, 10:30 PT. Bring questions.</a:t>
            </a:r>
          </a:p>
        </p:txBody>
      </p:sp>
    </p:spTree>
  </p:cSld>
  <p:clrMapOvr>
    <a:masterClrMapping/>
  </p:clrMapOvr>
  <p:transition xmlns:ns0="http://schemas.microsoft.com/office/powerpoint/2010/main" ns0:dur="800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