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E04E39"/>
            </a:solidFill>
          </c:spPr>
          <c:cat>
            <c:strRef>
              <c:f>Sheet1!$A$2:$A$3</c:f>
              <c:strCache>
                <c:ptCount val="2"/>
                <c:pt idx="0">
                  <c:v>Q1 '26 actual</c:v>
                </c:pt>
                <c:pt idx="1">
                  <c:v>Q2 '26 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F4B860"/>
            </a:solidFill>
          </c:spPr>
          <c:cat>
            <c:strRef>
              <c:f>Sheet1!$A$2:$A$3</c:f>
              <c:strCache>
                <c:ptCount val="2"/>
                <c:pt idx="0">
                  <c:v>Q1 '26 actual</c:v>
                </c:pt>
                <c:pt idx="1">
                  <c:v>Q2 '26 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</c:v>
                </c:pt>
                <c:pt idx="1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Sheet1!$A$2:$A$3</c:f>
              <c:strCache>
                <c:ptCount val="2"/>
                <c:pt idx="0">
                  <c:v>Q1 '26 actual</c:v>
                </c:pt>
                <c:pt idx="1">
                  <c:v>Q2 '26 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18</c:v>
                </c:pt>
                <c:pt idx="1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Self-serve</c:v>
                </c:pt>
              </c:strCache>
            </c:strRef>
          </c:tx>
          <c:spPr>
            <a:solidFill>
              <a:srgbClr val="4A7C8C"/>
            </a:solidFill>
          </c:spPr>
          <c:cat>
            <c:strRef>
              <c:f>Sheet1!$A$2:$A$3</c:f>
              <c:strCache>
                <c:ptCount val="2"/>
                <c:pt idx="0">
                  <c:v>Q1 '26 actual</c:v>
                </c:pt>
                <c:pt idx="1">
                  <c:v>Q2 '26 target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12</c:v>
                </c:pt>
                <c:pt idx="1">
                  <c:v>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 actual</c:v>
                </c:pt>
              </c:strCache>
            </c:strRef>
          </c:tx>
          <c:spPr>
            <a:solidFill>
              <a:srgbClr val="5C677D"/>
            </a:solidFill>
          </c:spPr>
          <c:cat>
            <c:strRef>
              <c:f>Sheet1!$A$2:$A$5</c:f>
              <c:strCache>
                <c:ptCount val="4"/>
                <c:pt idx="0">
                  <c:v>Pipeline cov.</c:v>
                </c:pt>
                <c:pt idx="1">
                  <c:v>Deal size</c:v>
                </c:pt>
                <c:pt idx="2">
                  <c:v>Time to close</c:v>
                </c:pt>
                <c:pt idx="3">
                  <c:v>Win 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71</c:v>
                </c:pt>
                <c:pt idx="2">
                  <c:v>54</c:v>
                </c:pt>
                <c:pt idx="3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target</c:v>
                </c:pt>
              </c:strCache>
            </c:strRef>
          </c:tx>
          <c:spPr>
            <a:solidFill>
              <a:srgbClr val="E04E39"/>
            </a:solidFill>
          </c:spPr>
          <c:cat>
            <c:strRef>
              <c:f>Sheet1!$A$2:$A$5</c:f>
              <c:strCache>
                <c:ptCount val="4"/>
                <c:pt idx="0">
                  <c:v>Pipeline cov.</c:v>
                </c:pt>
                <c:pt idx="1">
                  <c:v>Deal size</c:v>
                </c:pt>
                <c:pt idx="2">
                  <c:v>Time to close</c:v>
                </c:pt>
                <c:pt idx="3">
                  <c:v>Win rate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3.6</c:v>
                </c:pt>
                <c:pt idx="1">
                  <c:v>82</c:v>
                </c:pt>
                <c:pt idx="2">
                  <c:v>47</c:v>
                </c:pt>
                <c:pt idx="3">
                  <c:v>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E04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B860"/>
                </a:solidFill>
                <a:latin typeface="DejaVu Sans"/>
              </a:defRPr>
            </a:pPr>
            <a:r>
              <a:rPr/>
              <a:t>Q2 2026 — SALES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5800" b="1" i="0">
                <a:latin typeface="DejaVu Serif"/>
              </a:rPr>
              <a:t>Sell the value, not the seat.</a:t>
            </a:r>
            <a:endParaRPr sz="5800" b="1" i="0">
              <a:latin typeface="DejaVu Seri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F4B860"/>
                </a:solidFill>
                <a:latin typeface="DejaVu Sans"/>
              </a:defRPr>
            </a:pPr>
            <a:r>
              <a:rPr/>
              <a:t>Internal · Field Sales · Updated 17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200" i="1">
                <a:solidFill>
                  <a:srgbClr val="0B132B"/>
                </a:solidFill>
                <a:latin typeface="DejaVu Serif"/>
              </a:defRPr>
            </a:pPr>
            <a:r>
              <a:rPr/>
              <a:t>“The best reps don't pitch features — they reframe budget, risk, and time-to-value until the deal closes itself.”</a:t>
            </a:r>
          </a:p>
        </p:txBody>
      </p:sp>
    </p:spTree>
  </p:cSld>
  <p:clrMapOvr>
    <a:masterClrMapping/>
  </p:clrMapOvr>
  <p:transition xmlns:ns0="http://schemas.microsoft.com/office/powerpoint/2010/main" ns0:dur="1200">
    <ns0:morp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Agenda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Six sections, twenty minutes — questions at the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solidFill>
            <a:srgbClr val="FBF5EC"/>
          </a:solidFill>
          <a:ln w="635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101600" bIns="101600"/>
          <a:lstStyle/>
          <a:p>
            <a:pPr algn="l"/>
            <a:r>
              <a:rPr sz="1600" b="1">
                <a:solidFill>
                  <a:srgbClr val="E04E39"/>
                </a:solidFill>
                <a:latin typeface="DejaVu Sans Mono"/>
              </a:rPr>
              <a:t>01   </a:t>
            </a:r>
            <a:r>
              <a:rPr sz="1800" b="1">
                <a:solidFill>
                  <a:srgbClr val="0B132B"/>
                </a:solidFill>
                <a:latin typeface="DejaVu Serif"/>
              </a:rPr>
              <a:t>The new positioning</a:t>
            </a:r>
            <a:r>
              <a:rPr sz="1400" i="1">
                <a:solidFill>
                  <a:srgbClr val="5C677D"/>
                </a:solidFill>
                <a:latin typeface="DejaVu Sans"/>
              </a:rPr>
              <a:t>   —   Where we sit in the FY26 buyer's mental 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24760"/>
            <a:ext cx="10515600" cy="594360"/>
          </a:xfrm>
          <a:prstGeom prst="rect">
            <a:avLst/>
          </a:prstGeom>
          <a:solidFill>
            <a:srgbClr val="FBF5EC"/>
          </a:solidFill>
          <a:ln w="635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101600" bIns="101600"/>
          <a:lstStyle/>
          <a:p>
            <a:pPr algn="l"/>
            <a:r>
              <a:rPr sz="1600" b="1">
                <a:solidFill>
                  <a:srgbClr val="E04E39"/>
                </a:solidFill>
                <a:latin typeface="DejaVu Sans Mono"/>
              </a:rPr>
              <a:t>02   </a:t>
            </a:r>
            <a:r>
              <a:rPr sz="1800" b="1">
                <a:solidFill>
                  <a:srgbClr val="0B132B"/>
                </a:solidFill>
                <a:latin typeface="DejaVu Serif"/>
              </a:rPr>
              <a:t>Do / Don't</a:t>
            </a:r>
            <a:r>
              <a:rPr sz="1400" i="1">
                <a:solidFill>
                  <a:srgbClr val="5C677D"/>
                </a:solidFill>
                <a:latin typeface="DejaVu Sans"/>
              </a:rPr>
              <a:t>   —   Six habits to adopt this quarter; six to drop.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20720"/>
            <a:ext cx="10515600" cy="594360"/>
          </a:xfrm>
          <a:prstGeom prst="rect">
            <a:avLst/>
          </a:prstGeom>
          <a:solidFill>
            <a:srgbClr val="FBF5EC"/>
          </a:solidFill>
          <a:ln w="635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101600" bIns="101600"/>
          <a:lstStyle/>
          <a:p>
            <a:pPr algn="l"/>
            <a:r>
              <a:rPr sz="1600" b="1">
                <a:solidFill>
                  <a:srgbClr val="E04E39"/>
                </a:solidFill>
                <a:latin typeface="DejaVu Sans Mono"/>
              </a:rPr>
              <a:t>03   </a:t>
            </a:r>
            <a:r>
              <a:rPr sz="1800" b="1">
                <a:solidFill>
                  <a:srgbClr val="0B132B"/>
                </a:solidFill>
                <a:latin typeface="DejaVu Serif"/>
              </a:rPr>
              <a:t>The five-call process</a:t>
            </a:r>
            <a:r>
              <a:rPr sz="1400" i="1">
                <a:solidFill>
                  <a:srgbClr val="5C677D"/>
                </a:solidFill>
                <a:latin typeface="DejaVu Sans"/>
              </a:rPr>
              <a:t>   —   How we move a qualified opp from intro to signed MSA.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16680"/>
            <a:ext cx="10515600" cy="594360"/>
          </a:xfrm>
          <a:prstGeom prst="rect">
            <a:avLst/>
          </a:prstGeom>
          <a:solidFill>
            <a:srgbClr val="FBF5EC"/>
          </a:solidFill>
          <a:ln w="635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101600" bIns="101600"/>
          <a:lstStyle/>
          <a:p>
            <a:pPr algn="l"/>
            <a:r>
              <a:rPr sz="1600" b="1">
                <a:solidFill>
                  <a:srgbClr val="E04E39"/>
                </a:solidFill>
                <a:latin typeface="DejaVu Sans Mono"/>
              </a:rPr>
              <a:t>04   </a:t>
            </a:r>
            <a:r>
              <a:rPr sz="1800" b="1">
                <a:solidFill>
                  <a:srgbClr val="0B132B"/>
                </a:solidFill>
                <a:latin typeface="DejaVu Serif"/>
              </a:rPr>
              <a:t>Pipeline mix targets</a:t>
            </a:r>
            <a:r>
              <a:rPr sz="1400" i="1">
                <a:solidFill>
                  <a:srgbClr val="5C677D"/>
                </a:solidFill>
                <a:latin typeface="DejaVu Sans"/>
              </a:rPr>
              <a:t>   —   Segment split that hits the FY26 number.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12640"/>
            <a:ext cx="10515600" cy="594360"/>
          </a:xfrm>
          <a:prstGeom prst="rect">
            <a:avLst/>
          </a:prstGeom>
          <a:solidFill>
            <a:srgbClr val="FBF5EC"/>
          </a:solidFill>
          <a:ln w="635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101600" bIns="101600"/>
          <a:lstStyle/>
          <a:p>
            <a:pPr algn="l"/>
            <a:r>
              <a:rPr sz="1600" b="1">
                <a:solidFill>
                  <a:srgbClr val="E04E39"/>
                </a:solidFill>
                <a:latin typeface="DejaVu Sans Mono"/>
              </a:rPr>
              <a:t>05   </a:t>
            </a:r>
            <a:r>
              <a:rPr sz="1800" b="1">
                <a:solidFill>
                  <a:srgbClr val="0B132B"/>
                </a:solidFill>
                <a:latin typeface="DejaVu Serif"/>
              </a:rPr>
              <a:t>Top objection cheatsheet</a:t>
            </a:r>
            <a:r>
              <a:rPr sz="1400" i="1">
                <a:solidFill>
                  <a:srgbClr val="5C677D"/>
                </a:solidFill>
                <a:latin typeface="DejaVu Sans"/>
              </a:rPr>
              <a:t>   —   The four objections that lose 80% of the closed-lost.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308600"/>
            <a:ext cx="10515600" cy="594360"/>
          </a:xfrm>
          <a:prstGeom prst="rect">
            <a:avLst/>
          </a:prstGeom>
          <a:solidFill>
            <a:srgbClr val="FBF5EC"/>
          </a:solidFill>
          <a:ln w="635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101600" bIns="101600"/>
          <a:lstStyle/>
          <a:p>
            <a:pPr algn="l"/>
            <a:r>
              <a:rPr sz="1600" b="1">
                <a:solidFill>
                  <a:srgbClr val="E04E39"/>
                </a:solidFill>
                <a:latin typeface="DejaVu Sans Mono"/>
              </a:rPr>
              <a:t>06   </a:t>
            </a:r>
            <a:r>
              <a:rPr sz="1800" b="1">
                <a:solidFill>
                  <a:srgbClr val="0B132B"/>
                </a:solidFill>
                <a:latin typeface="DejaVu Serif"/>
              </a:rPr>
              <a:t>Q2 KPIs and accountability</a:t>
            </a:r>
            <a:r>
              <a:rPr sz="1400" i="1">
                <a:solidFill>
                  <a:srgbClr val="5C677D"/>
                </a:solidFill>
                <a:latin typeface="DejaVu Sans"/>
              </a:rPr>
              <a:t>   —   What good looks like — and who owns each metric.</a:t>
            </a:r>
          </a:p>
        </p:txBody>
      </p:sp>
    </p:spTree>
  </p:cSld>
  <p:clrMapOvr>
    <a:masterClrMapping/>
  </p:clrMapOvr>
  <p:transition xmlns:ns0="http://schemas.microsoft.com/office/powerpoint/2010/main" ns0:dur="500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Do / Don't — this quarter's habits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Six adds; six removes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349240" cy="429768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54000" dist="762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355600" tIns="304800" bIns="304800">
            <a:normAutofit/>
          </a:bodyPr>
          <a:lstStyle/>
          <a:p>
            <a:pPr algn="l">
              <a:defRPr sz="1600" b="1">
                <a:solidFill>
                  <a:srgbClr val="2E8B57"/>
                </a:solidFill>
                <a:latin typeface="DejaVu Sans"/>
              </a:defRPr>
            </a:pPr>
            <a:r>
              <a:rPr/>
              <a:t>DO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✓ Lead with the customer's number, not ours.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✓ Send a recap in the same 90-minute window.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✓ Bring a peer reference to call #2.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✓ Quote in the customer's currency.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✓ Mirror exec language verbatim in proposals.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✓ Always include a 12-week success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349240" cy="429768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54000" dist="762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355600" tIns="304800" bIns="304800">
            <a:norm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DejaVu Sans"/>
              </a:defRPr>
            </a:pPr>
            <a:r>
              <a:rPr/>
              <a:t>DON'T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✗ Open with the feature deck.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✗ Wait 48 hours to send the recap.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✗ Save the reference for legal.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✗ Quote in USD when buyer pays in EUR.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✗ Rewrite their objection in our jargon.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defRPr sz="1500">
                <a:solidFill>
                  <a:srgbClr val="0B132B"/>
                </a:solidFill>
                <a:latin typeface="DejaVu Sans"/>
              </a:defRPr>
            </a:pPr>
            <a:r>
              <a:rPr/>
              <a:t>✗ Skip the success plan to close faster.</a:t>
            </a:r>
          </a:p>
        </p:txBody>
      </p:sp>
    </p:spTree>
  </p:cSld>
  <p:clrMapOvr>
    <a:masterClrMapping/>
  </p:clrMapOvr>
  <p:transition xmlns:ns0="http://schemas.microsoft.com/office/powerpoint/2010/main" ns0:dur="500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The five-call process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From intro to signed MSA in eight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816547" cy="1280160"/>
          </a:xfrm>
          <a:prstGeom prst="roundRect">
            <a:avLst/>
          </a:prstGeom>
          <a:solidFill>
            <a:srgbClr val="F4B860"/>
          </a:solidFill>
          <a:ln>
            <a:noFill/>
          </a:ln>
          <a:effectLst>
            <a:outerShdw blurRad="101600" dist="38100">
              <a:srgbClr val="0B132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 bIns="127000"/>
          <a:lstStyle/>
          <a:p>
            <a:pPr algn="ctr">
              <a:defRPr sz="2000" b="1">
                <a:solidFill>
                  <a:srgbClr val="FFFFFF"/>
                </a:solidFill>
                <a:latin typeface="DejaVu Serif"/>
              </a:defRPr>
            </a:pPr>
            <a:r>
              <a:rPr/>
              <a:t>Intro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  <a:latin typeface="DejaVu Sans"/>
              </a:defRPr>
            </a:pPr>
            <a:r>
              <a:rPr/>
              <a:t>Discovery + qualify</a:t>
            </a:r>
          </a:p>
        </p:txBody>
      </p:sp>
      <p:sp>
        <p:nvSpPr>
          <p:cNvPr id="6" name="Right Triangle 5"/>
          <p:cNvSpPr/>
          <p:nvPr/>
        </p:nvSpPr>
        <p:spPr>
          <a:xfrm rot="5400000">
            <a:off x="2456627" y="2852927"/>
            <a:ext cx="320040" cy="329184"/>
          </a:xfrm>
          <a:prstGeom prst="rtTriangle">
            <a:avLst/>
          </a:prstGeom>
          <a:solidFill>
            <a:srgbClr val="D9C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913827" y="2377440"/>
            <a:ext cx="1816547" cy="1280160"/>
          </a:xfrm>
          <a:prstGeom prst="roundRect">
            <a:avLst/>
          </a:prstGeom>
          <a:solidFill>
            <a:srgbClr val="E04E39"/>
          </a:solidFill>
          <a:ln>
            <a:noFill/>
          </a:ln>
          <a:effectLst>
            <a:outerShdw blurRad="101600" dist="38100">
              <a:srgbClr val="0B132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 bIns="127000"/>
          <a:lstStyle/>
          <a:p>
            <a:pPr algn="ctr">
              <a:defRPr sz="2000" b="1">
                <a:solidFill>
                  <a:srgbClr val="FFFFFF"/>
                </a:solidFill>
                <a:latin typeface="DejaVu Serif"/>
              </a:defRPr>
            </a:pPr>
            <a:r>
              <a:rPr/>
              <a:t>Demo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  <a:latin typeface="DejaVu Sans"/>
              </a:defRPr>
            </a:pPr>
            <a:r>
              <a:rPr/>
              <a:t>Tailored, w/ peer ref</a:t>
            </a:r>
          </a:p>
        </p:txBody>
      </p:sp>
      <p:sp>
        <p:nvSpPr>
          <p:cNvPr id="8" name="Right Triangle 7"/>
          <p:cNvSpPr/>
          <p:nvPr/>
        </p:nvSpPr>
        <p:spPr>
          <a:xfrm rot="5400000">
            <a:off x="4730374" y="2852927"/>
            <a:ext cx="320040" cy="329184"/>
          </a:xfrm>
          <a:prstGeom prst="rtTriangle">
            <a:avLst/>
          </a:prstGeom>
          <a:solidFill>
            <a:srgbClr val="D9C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187574" y="2377440"/>
            <a:ext cx="1816547" cy="12801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>
            <a:outerShdw blurRad="101600" dist="38100">
              <a:srgbClr val="0B132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 bIns="127000"/>
          <a:lstStyle/>
          <a:p>
            <a:pPr algn="ctr">
              <a:defRPr sz="2000" b="1">
                <a:solidFill>
                  <a:srgbClr val="FFFFFF"/>
                </a:solidFill>
                <a:latin typeface="DejaVu Serif"/>
              </a:defRPr>
            </a:pPr>
            <a:r>
              <a:rPr/>
              <a:t>Champion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  <a:latin typeface="DejaVu Sans"/>
              </a:defRPr>
            </a:pPr>
            <a:r>
              <a:rPr/>
              <a:t>Value hypothesis + budget</a:t>
            </a:r>
          </a:p>
        </p:txBody>
      </p:sp>
      <p:sp>
        <p:nvSpPr>
          <p:cNvPr id="10" name="Right Triangle 9"/>
          <p:cNvSpPr/>
          <p:nvPr/>
        </p:nvSpPr>
        <p:spPr>
          <a:xfrm rot="5400000">
            <a:off x="7004121" y="2852927"/>
            <a:ext cx="320040" cy="329184"/>
          </a:xfrm>
          <a:prstGeom prst="rtTriangle">
            <a:avLst/>
          </a:prstGeom>
          <a:solidFill>
            <a:srgbClr val="D9C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7461321" y="2377440"/>
            <a:ext cx="1816547" cy="1280160"/>
          </a:xfrm>
          <a:prstGeom prst="roundRect">
            <a:avLst/>
          </a:prstGeom>
          <a:solidFill>
            <a:srgbClr val="4A7C8C"/>
          </a:solidFill>
          <a:ln>
            <a:noFill/>
          </a:ln>
          <a:effectLst>
            <a:outerShdw blurRad="101600" dist="38100">
              <a:srgbClr val="0B132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 bIns="127000"/>
          <a:lstStyle/>
          <a:p>
            <a:pPr algn="ctr">
              <a:defRPr sz="2000" b="1">
                <a:solidFill>
                  <a:srgbClr val="FFFFFF"/>
                </a:solidFill>
                <a:latin typeface="DejaVu Serif"/>
              </a:defRPr>
            </a:pPr>
            <a:r>
              <a:rPr/>
              <a:t>Proposal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  <a:latin typeface="DejaVu Sans"/>
              </a:defRPr>
            </a:pPr>
            <a:r>
              <a:rPr/>
              <a:t>12-week success plan</a:t>
            </a:r>
          </a:p>
        </p:txBody>
      </p:sp>
      <p:sp>
        <p:nvSpPr>
          <p:cNvPr id="12" name="Right Triangle 11"/>
          <p:cNvSpPr/>
          <p:nvPr/>
        </p:nvSpPr>
        <p:spPr>
          <a:xfrm rot="5400000">
            <a:off x="9277868" y="2852927"/>
            <a:ext cx="320040" cy="329184"/>
          </a:xfrm>
          <a:prstGeom prst="rtTriangle">
            <a:avLst/>
          </a:prstGeom>
          <a:solidFill>
            <a:srgbClr val="D9C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735068" y="2377440"/>
            <a:ext cx="1816547" cy="1280160"/>
          </a:xfrm>
          <a:prstGeom prst="roundRect">
            <a:avLst/>
          </a:prstGeom>
          <a:solidFill>
            <a:srgbClr val="0B132B"/>
          </a:solidFill>
          <a:ln>
            <a:noFill/>
          </a:ln>
          <a:effectLst>
            <a:outerShdw blurRad="101600" dist="38100">
              <a:srgbClr val="0B132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77800" bIns="127000"/>
          <a:lstStyle/>
          <a:p>
            <a:pPr algn="ctr">
              <a:defRPr sz="2000" b="1">
                <a:solidFill>
                  <a:srgbClr val="FFFFFF"/>
                </a:solidFill>
                <a:latin typeface="DejaVu Serif"/>
              </a:defRPr>
            </a:pPr>
            <a:r>
              <a:rPr/>
              <a:t>Close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  <a:latin typeface="DejaVu Sans"/>
              </a:defRPr>
            </a:pPr>
            <a:r>
              <a:rPr/>
              <a:t>Legal + procurement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18165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C677D"/>
                </a:solidFill>
                <a:latin typeface="DejaVu Sans"/>
              </a:defRPr>
            </a:pPr>
            <a:r>
              <a:rPr/>
              <a:t>Goal: confirm pain + power.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3827" y="3886200"/>
            <a:ext cx="18165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C677D"/>
                </a:solidFill>
                <a:latin typeface="DejaVu Sans"/>
              </a:defRPr>
            </a:pPr>
            <a:r>
              <a:rPr/>
              <a:t>Goal: customer pictures the win.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7574" y="3886200"/>
            <a:ext cx="18165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C677D"/>
                </a:solidFill>
                <a:latin typeface="DejaVu Sans"/>
              </a:defRPr>
            </a:pPr>
            <a:r>
              <a:rPr/>
              <a:t>Goal: champion sells internally.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321" y="3886200"/>
            <a:ext cx="18165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C677D"/>
                </a:solidFill>
                <a:latin typeface="DejaVu Sans"/>
              </a:defRPr>
            </a:pPr>
            <a:r>
              <a:rPr/>
              <a:t>Goal: agreement on price +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5068" y="3886200"/>
            <a:ext cx="181654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C677D"/>
                </a:solidFill>
                <a:latin typeface="DejaVu Sans"/>
              </a:defRPr>
            </a:pPr>
            <a:r>
              <a:rPr/>
              <a:t>Goal: signature within 14 days.</a:t>
            </a:r>
          </a:p>
        </p:txBody>
      </p:sp>
    </p:spTree>
  </p:cSld>
  <p:clrMapOvr>
    <a:masterClrMapping/>
  </p:clrMapOvr>
  <p:transition xmlns:ns0="http://schemas.microsoft.com/office/powerpoint/2010/main" ns0:dur="500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Pipeline mix targets — Q2 vs Q1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Share of weighted pipeline by segment (%)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10515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5C677D"/>
                </a:solidFill>
                <a:latin typeface="DejaVu Sans"/>
              </a:defRPr>
            </a:pPr>
            <a:r>
              <a:rPr/>
              <a:t>Target shifts weight to Enterprise by 12 points — funded by halving Self-serve and modest SMB compression.</a:t>
            </a:r>
          </a:p>
        </p:txBody>
      </p:sp>
    </p:spTree>
  </p:cSld>
  <p:clrMapOvr>
    <a:masterClrMapping/>
  </p:clrMapOvr>
  <p:transition xmlns:ns0="http://schemas.microsoft.com/office/powerpoint/2010/main" ns0:dur="500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Top objection cheatsheet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Four scripts that recover 80% of the closed-lost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2133600"/>
            <a:ext cx="5257648" cy="187960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508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0" bIns="254000">
            <a:normAutofit/>
          </a:bodyPr>
          <a:lstStyle/>
          <a:p>
            <a:pPr algn="l">
              <a:defRPr sz="1800" i="1">
                <a:solidFill>
                  <a:srgbClr val="E04E39"/>
                </a:solidFill>
                <a:latin typeface="DejaVu Serif"/>
              </a:defRPr>
            </a:pPr>
            <a:r>
              <a:rPr/>
              <a:t>“It's too expensive.”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defRPr sz="1300">
                <a:solidFill>
                  <a:srgbClr val="0B132B"/>
                </a:solidFill>
                <a:latin typeface="DejaVu Sans"/>
              </a:defRPr>
            </a:pPr>
            <a:r>
              <a:rPr/>
              <a:t>Reframe: cost per active user vs three alternatives we already know they evaluated.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defRPr sz="1200" b="1">
                <a:solidFill>
                  <a:srgbClr val="2E8B57"/>
                </a:solidFill>
                <a:latin typeface="DejaVu Sans"/>
              </a:defRPr>
            </a:pPr>
            <a:r>
              <a:rPr/>
              <a:t>→ Walk through the 12-week success plan ROI; ask what number they need to hit.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2848" y="2133600"/>
            <a:ext cx="5257648" cy="187960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508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0" bIns="254000">
            <a:normAutofit/>
          </a:bodyPr>
          <a:lstStyle/>
          <a:p>
            <a:pPr algn="l">
              <a:defRPr sz="1800" i="1">
                <a:solidFill>
                  <a:srgbClr val="E04E39"/>
                </a:solidFill>
                <a:latin typeface="DejaVu Serif"/>
              </a:defRPr>
            </a:pPr>
            <a:r>
              <a:rPr/>
              <a:t>“We don't have bandwidth.”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defRPr sz="1300">
                <a:solidFill>
                  <a:srgbClr val="0B132B"/>
                </a:solidFill>
                <a:latin typeface="DejaVu Sans"/>
              </a:defRPr>
            </a:pPr>
            <a:r>
              <a:rPr/>
              <a:t>Reframe: bandwidth is bigger if you DON'T do this — they keep paying the manual cost.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defRPr sz="1200" b="1">
                <a:solidFill>
                  <a:srgbClr val="2E8B57"/>
                </a:solidFill>
                <a:latin typeface="DejaVu Sans"/>
              </a:defRPr>
            </a:pPr>
            <a:r>
              <a:rPr/>
              <a:t>→ Offer to staff the first sprint with our solutions architect.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1200" y="4267200"/>
            <a:ext cx="5257648" cy="187960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508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0" bIns="254000">
            <a:normAutofit/>
          </a:bodyPr>
          <a:lstStyle/>
          <a:p>
            <a:pPr algn="l">
              <a:defRPr sz="1800" i="1">
                <a:solidFill>
                  <a:srgbClr val="E04E39"/>
                </a:solidFill>
                <a:latin typeface="DejaVu Serif"/>
              </a:defRPr>
            </a:pPr>
            <a:r>
              <a:rPr/>
              <a:t>“We're going to build it.”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defRPr sz="1300">
                <a:solidFill>
                  <a:srgbClr val="0B132B"/>
                </a:solidFill>
                <a:latin typeface="DejaVu Sans"/>
              </a:defRPr>
            </a:pPr>
            <a:r>
              <a:rPr/>
              <a:t>Reframe: maintenance cost over 24 months vs subscription, plus opportunity cost of eng time.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defRPr sz="1200" b="1">
                <a:solidFill>
                  <a:srgbClr val="2E8B57"/>
                </a:solidFill>
                <a:latin typeface="DejaVu Sans"/>
              </a:defRPr>
            </a:pPr>
            <a:r>
              <a:rPr/>
              <a:t>→ Co-author a build-vs-buy memo for their 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2848" y="4267200"/>
            <a:ext cx="5257648" cy="187960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508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54000" bIns="254000">
            <a:normAutofit/>
          </a:bodyPr>
          <a:lstStyle/>
          <a:p>
            <a:pPr algn="l">
              <a:defRPr sz="1800" i="1">
                <a:solidFill>
                  <a:srgbClr val="E04E39"/>
                </a:solidFill>
                <a:latin typeface="DejaVu Serif"/>
              </a:defRPr>
            </a:pPr>
            <a:r>
              <a:rPr/>
              <a:t>“Let's revisit next quarter.”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defRPr sz="1300">
                <a:solidFill>
                  <a:srgbClr val="0B132B"/>
                </a:solidFill>
                <a:latin typeface="DejaVu Sans"/>
              </a:defRPr>
            </a:pPr>
            <a:r>
              <a:rPr/>
              <a:t>Reframe: what would have to be true for this to not slip again? Usually a missing piece of data.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defRPr sz="1200" b="1">
                <a:solidFill>
                  <a:srgbClr val="2E8B57"/>
                </a:solidFill>
                <a:latin typeface="DejaVu Sans"/>
              </a:defRPr>
            </a:pPr>
            <a:r>
              <a:rPr/>
              <a:t>→ Ask which decision-maker would unblock it; offer to brief them directly.</a:t>
            </a:r>
          </a:p>
        </p:txBody>
      </p:sp>
    </p:spTree>
  </p:cSld>
  <p:clrMapOvr>
    <a:masterClrMapping/>
  </p:clrMapOvr>
  <p:transition xmlns:ns0="http://schemas.microsoft.com/office/powerpoint/2010/main" ns0:dur="500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Q2 KPIs and accountability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What good looks like, and who owns each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200" y="1838960"/>
            <a:ext cx="2539924" cy="148844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>
            <a:normAutofit/>
          </a:bodyPr>
          <a:lstStyle/>
          <a:p>
            <a:pPr algn="l">
              <a:defRPr sz="1100">
                <a:solidFill>
                  <a:srgbClr val="5C677D"/>
                </a:solidFill>
                <a:latin typeface="DejaVu Sans"/>
              </a:defRPr>
            </a:pPr>
            <a:r>
              <a:rPr/>
              <a:t>Pipeline coverage</a:t>
            </a:r>
          </a:p>
          <a:p>
            <a:pPr algn="l">
              <a:spcBef>
                <a:spcPts val="400"/>
              </a:spcBef>
              <a:defRPr sz="3600" b="1">
                <a:solidFill>
                  <a:srgbClr val="0B132B"/>
                </a:solidFill>
                <a:latin typeface="DejaVu Serif"/>
              </a:defRPr>
            </a:pPr>
            <a:r>
              <a:rPr/>
              <a:t>3.6×</a:t>
            </a:r>
          </a:p>
          <a:p>
            <a:pPr algn="l">
              <a:spcBef>
                <a:spcPts val="600"/>
              </a:spcBef>
              <a:defRPr sz="1000">
                <a:solidFill>
                  <a:srgbClr val="2E8B57"/>
                </a:solidFill>
                <a:latin typeface="DejaVu Sans Mono"/>
              </a:defRPr>
            </a:pPr>
            <a:r>
              <a:rPr/>
              <a:t>Owner: RVP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4324" y="1838960"/>
            <a:ext cx="2539924" cy="148844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>
            <a:normAutofit/>
          </a:bodyPr>
          <a:lstStyle/>
          <a:p>
            <a:pPr algn="l">
              <a:defRPr sz="1100">
                <a:solidFill>
                  <a:srgbClr val="5C677D"/>
                </a:solidFill>
                <a:latin typeface="DejaVu Sans"/>
              </a:defRPr>
            </a:pPr>
            <a:r>
              <a:rPr/>
              <a:t>Avg deal size</a:t>
            </a:r>
          </a:p>
          <a:p>
            <a:pPr algn="l">
              <a:spcBef>
                <a:spcPts val="400"/>
              </a:spcBef>
              <a:defRPr sz="3600" b="1">
                <a:solidFill>
                  <a:srgbClr val="0B132B"/>
                </a:solidFill>
                <a:latin typeface="DejaVu Serif"/>
              </a:defRPr>
            </a:pPr>
            <a:r>
              <a:rPr/>
              <a:t>$82K</a:t>
            </a:r>
          </a:p>
          <a:p>
            <a:pPr algn="l">
              <a:spcBef>
                <a:spcPts val="600"/>
              </a:spcBef>
              <a:defRPr sz="1000">
                <a:solidFill>
                  <a:srgbClr val="2E8B57"/>
                </a:solidFill>
                <a:latin typeface="DejaVu Sans Mono"/>
              </a:defRPr>
            </a:pPr>
            <a:r>
              <a:rPr/>
              <a:t>Owner: AE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448" y="1838960"/>
            <a:ext cx="2539924" cy="148844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>
            <a:normAutofit/>
          </a:bodyPr>
          <a:lstStyle/>
          <a:p>
            <a:pPr algn="l">
              <a:defRPr sz="1100">
                <a:solidFill>
                  <a:srgbClr val="5C677D"/>
                </a:solidFill>
                <a:latin typeface="DejaVu Sans"/>
              </a:defRPr>
            </a:pPr>
            <a:r>
              <a:rPr/>
              <a:t>Time to close</a:t>
            </a:r>
          </a:p>
          <a:p>
            <a:pPr algn="l">
              <a:spcBef>
                <a:spcPts val="400"/>
              </a:spcBef>
              <a:defRPr sz="3600" b="1">
                <a:solidFill>
                  <a:srgbClr val="0B132B"/>
                </a:solidFill>
                <a:latin typeface="DejaVu Serif"/>
              </a:defRPr>
            </a:pPr>
            <a:r>
              <a:rPr/>
              <a:t>47 days</a:t>
            </a:r>
          </a:p>
          <a:p>
            <a:pPr algn="l">
              <a:spcBef>
                <a:spcPts val="600"/>
              </a:spcBef>
              <a:defRPr sz="1000">
                <a:solidFill>
                  <a:srgbClr val="C0392B"/>
                </a:solidFill>
                <a:latin typeface="DejaVu Sans Mono"/>
              </a:defRPr>
            </a:pPr>
            <a:r>
              <a:rPr/>
              <a:t>Owner: SE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0571" y="1838960"/>
            <a:ext cx="2539924" cy="148844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>
            <a:normAutofit/>
          </a:bodyPr>
          <a:lstStyle/>
          <a:p>
            <a:pPr algn="l">
              <a:defRPr sz="1100">
                <a:solidFill>
                  <a:srgbClr val="5C677D"/>
                </a:solidFill>
                <a:latin typeface="DejaVu Sans"/>
              </a:defRPr>
            </a:pPr>
            <a:r>
              <a:rPr/>
              <a:t>Win rate (Ent.)</a:t>
            </a:r>
          </a:p>
          <a:p>
            <a:pPr algn="l">
              <a:spcBef>
                <a:spcPts val="400"/>
              </a:spcBef>
              <a:defRPr sz="3600" b="1">
                <a:solidFill>
                  <a:srgbClr val="0B132B"/>
                </a:solidFill>
                <a:latin typeface="DejaVu Serif"/>
              </a:defRPr>
            </a:pPr>
            <a:r>
              <a:rPr/>
              <a:t>34%</a:t>
            </a:r>
          </a:p>
          <a:p>
            <a:pPr algn="l">
              <a:spcBef>
                <a:spcPts val="600"/>
              </a:spcBef>
              <a:defRPr sz="1000">
                <a:solidFill>
                  <a:srgbClr val="2E8B57"/>
                </a:solidFill>
                <a:latin typeface="DejaVu Sans Mono"/>
              </a:defRPr>
            </a:pPr>
            <a:r>
              <a:rPr/>
              <a:t>Owner: RVP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4572000"/>
          <a:ext cx="105156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ns0="http://schemas.microsoft.com/office/powerpoint/2010/main" ns0:dur="500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4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4400" b="1" i="0">
                <a:latin typeface="DejaVu Serif"/>
              </a:rPr>
              <a:t>Bring one new champion to next week's office hours.</a:t>
            </a:r>
            <a:endParaRPr sz="44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F4B860"/>
                </a:solidFill>
                <a:latin typeface="DejaVu Sans"/>
              </a:defRPr>
            </a:pPr>
            <a:r>
              <a:rPr/>
              <a:t>Same room, every Tuesday, 10:30 PT. Bring questions.</a:t>
            </a:r>
          </a:p>
        </p:txBody>
      </p:sp>
    </p:spTree>
  </p:cSld>
  <p:clrMapOvr>
    <a:masterClrMapping/>
  </p:clrMapOvr>
  <p:transition xmlns:ns0="http://schemas.microsoft.com/office/powerpoint/2010/main" ns0:dur="8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