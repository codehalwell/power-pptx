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Arabica</c:v>
                </c:pt>
              </c:strCache>
            </c:strRef>
          </c:tx>
          <c:spPr>
            <a:solidFill>
              <a:srgbClr val="E04E39"/>
            </a:solidFill>
            <a:ln w="31750">
              <a:solidFill>
                <a:srgbClr val="E04E39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Jan-24</c:v>
                </c:pt>
                <c:pt idx="1">
                  <c:v>Apr-24</c:v>
                </c:pt>
                <c:pt idx="2">
                  <c:v>Jul-24</c:v>
                </c:pt>
                <c:pt idx="3">
                  <c:v>Oct-24</c:v>
                </c:pt>
                <c:pt idx="4">
                  <c:v>Jan-25</c:v>
                </c:pt>
                <c:pt idx="5">
                  <c:v>Apr-25</c:v>
                </c:pt>
                <c:pt idx="6">
                  <c:v>Jul-25</c:v>
                </c:pt>
                <c:pt idx="7">
                  <c:v>Oct-25</c:v>
                </c:pt>
                <c:pt idx="8">
                  <c:v>Jan-26</c:v>
                </c:pt>
                <c:pt idx="9">
                  <c:v>Apr-26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1.85</c:v>
                </c:pt>
                <c:pt idx="1">
                  <c:v>1.92</c:v>
                </c:pt>
                <c:pt idx="2">
                  <c:v>2.05</c:v>
                </c:pt>
                <c:pt idx="3">
                  <c:v>2.3</c:v>
                </c:pt>
                <c:pt idx="4">
                  <c:v>2.65</c:v>
                </c:pt>
                <c:pt idx="5">
                  <c:v>2.98</c:v>
                </c:pt>
                <c:pt idx="6">
                  <c:v>3.42</c:v>
                </c:pt>
                <c:pt idx="7">
                  <c:v>3.71</c:v>
                </c:pt>
                <c:pt idx="8">
                  <c:v>3.84</c:v>
                </c:pt>
                <c:pt idx="9">
                  <c:v>3.92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Robusta</c:v>
                </c:pt>
              </c:strCache>
            </c:strRef>
          </c:tx>
          <c:spPr>
            <a:solidFill>
              <a:srgbClr val="5C677D"/>
            </a:solidFill>
            <a:ln w="31750">
              <a:solidFill>
                <a:srgbClr val="5C677D"/>
              </a:solidFill>
            </a:ln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Jan-24</c:v>
                </c:pt>
                <c:pt idx="1">
                  <c:v>Apr-24</c:v>
                </c:pt>
                <c:pt idx="2">
                  <c:v>Jul-24</c:v>
                </c:pt>
                <c:pt idx="3">
                  <c:v>Oct-24</c:v>
                </c:pt>
                <c:pt idx="4">
                  <c:v>Jan-25</c:v>
                </c:pt>
                <c:pt idx="5">
                  <c:v>Apr-25</c:v>
                </c:pt>
                <c:pt idx="6">
                  <c:v>Jul-25</c:v>
                </c:pt>
                <c:pt idx="7">
                  <c:v>Oct-25</c:v>
                </c:pt>
                <c:pt idx="8">
                  <c:v>Jan-26</c:v>
                </c:pt>
                <c:pt idx="9">
                  <c:v>Apr-26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1.1</c:v>
                </c:pt>
                <c:pt idx="1">
                  <c:v>1.18</c:v>
                </c:pt>
                <c:pt idx="2">
                  <c:v>1.32</c:v>
                </c:pt>
                <c:pt idx="3">
                  <c:v>1.58</c:v>
                </c:pt>
                <c:pt idx="4">
                  <c:v>1.86</c:v>
                </c:pt>
                <c:pt idx="5">
                  <c:v>2.11</c:v>
                </c:pt>
                <c:pt idx="6">
                  <c:v>2.34</c:v>
                </c:pt>
                <c:pt idx="7">
                  <c:v>2.42</c:v>
                </c:pt>
                <c:pt idx="8">
                  <c:v>2.48</c:v>
                </c:pt>
                <c:pt idx="9">
                  <c:v>2.55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04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4E39"/>
                </a:solidFill>
                <a:latin typeface="DejaVu Sans"/>
              </a:defRPr>
            </a:pPr>
            <a:r>
              <a:rPr/>
              <a:t>ISSUE 04  •  MAY 2026  •  GLOBAL MARKETS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1005840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7000" b="1" i="0">
                <a:latin typeface="DejaVu Serif"/>
              </a:rPr>
              <a:t>The Quiet Reordering of the Global Coffee Trade</a:t>
            </a:r>
            <a:endParaRPr sz="7000" b="1" i="0">
              <a:latin typeface="DejaVu Serif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466344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defRPr sz="1800">
                <a:solidFill>
                  <a:srgbClr val="5C677D"/>
                </a:solidFill>
                <a:latin typeface="DejaVu Sans"/>
              </a:defRPr>
            </a:pPr>
            <a:r>
              <a:rPr/>
              <a:t>Brazilian frost, container-rate volatility, and a fast-growing specialty segment have rewritten who buys what from whom — and whose margin is at risk through the rest of FY26.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i="1">
                <a:solidFill>
                  <a:srgbClr val="5C677D"/>
                </a:solidFill>
                <a:latin typeface="DejaVu Sans"/>
              </a:defRPr>
            </a:pPr>
            <a:r>
              <a:rPr/>
              <a:t>By the power-pptx Editorial Desk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400" b="1" i="0">
                <a:latin typeface="DejaVu Serif"/>
              </a:rPr>
              <a:t>By the numbers</a:t>
            </a:r>
            <a:endParaRPr sz="34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FY26 YTD vs FY25 YTD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633133"/>
            <a:ext cx="2470074" cy="1591733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03200" dist="50800" dir="54000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 algn="l">
              <a:defRPr sz="3400" b="1">
                <a:solidFill>
                  <a:srgbClr val="0B132B"/>
                </a:solidFill>
                <a:latin typeface="DejaVu Serif"/>
              </a:defRPr>
            </a:pPr>
            <a:r>
              <a:rPr/>
              <a:t>$31.4B</a:t>
            </a:r>
          </a:p>
          <a:p>
            <a:pPr algn="l">
              <a:spcBef>
                <a:spcPts val="4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Global green-bean trade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2E8B57"/>
                </a:solidFill>
                <a:latin typeface="DejaVu Sans Mono"/>
              </a:defRPr>
            </a:pPr>
            <a:r>
              <a:rPr/>
              <a:t>+8.1%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1474" y="2633133"/>
            <a:ext cx="2470074" cy="1591733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03200" dist="50800" dir="54000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 algn="l">
              <a:defRPr sz="3400" b="1">
                <a:solidFill>
                  <a:srgbClr val="0B132B"/>
                </a:solidFill>
                <a:latin typeface="DejaVu Serif"/>
              </a:defRPr>
            </a:pPr>
            <a:r>
              <a:rPr/>
              <a:t>$3.92/lb</a:t>
            </a:r>
          </a:p>
          <a:p>
            <a:pPr algn="l">
              <a:spcBef>
                <a:spcPts val="4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Average Arabica spot price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C0392B"/>
                </a:solidFill>
                <a:latin typeface="DejaVu Sans Mono"/>
              </a:defRPr>
            </a:pPr>
            <a:r>
              <a:rPr/>
              <a:t>+24.6%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8" y="2633133"/>
            <a:ext cx="2470074" cy="1591733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03200" dist="50800" dir="54000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 algn="l">
              <a:defRPr sz="3400" b="1">
                <a:solidFill>
                  <a:srgbClr val="0B132B"/>
                </a:solidFill>
                <a:latin typeface="DejaVu Serif"/>
              </a:defRPr>
            </a:pPr>
            <a:r>
              <a:rPr/>
              <a:t>27.3%</a:t>
            </a:r>
          </a:p>
          <a:p>
            <a:pPr algn="l">
              <a:spcBef>
                <a:spcPts val="4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Specialty share of imports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2E8B57"/>
                </a:solidFill>
                <a:latin typeface="DejaVu Sans Mono"/>
              </a:defRPr>
            </a:pPr>
            <a:r>
              <a:rPr/>
              <a:t>+3.1 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08821" y="2633133"/>
            <a:ext cx="2470074" cy="1591733"/>
          </a:xfrm>
          <a:prstGeom prst="roundRect">
            <a:avLst/>
          </a:prstGeom>
          <a:solidFill>
            <a:srgbClr val="FBF5EC"/>
          </a:solidFill>
          <a:ln w="12700">
            <a:solidFill>
              <a:srgbClr val="E7DED0"/>
            </a:solidFill>
          </a:ln>
          <a:effectLst>
            <a:outerShdw blurRad="203200" dist="50800" dir="5400000">
              <a:srgbClr val="0B13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3200" bIns="203200">
            <a:normAutofit/>
          </a:bodyPr>
          <a:lstStyle/>
          <a:p>
            <a:pPr algn="l">
              <a:defRPr sz="3400" b="1">
                <a:solidFill>
                  <a:srgbClr val="0B132B"/>
                </a:solidFill>
                <a:latin typeface="DejaVu Serif"/>
              </a:defRPr>
            </a:pPr>
            <a:r>
              <a:rPr/>
              <a:t>$4,180</a:t>
            </a:r>
          </a:p>
          <a:p>
            <a:pPr algn="l">
              <a:spcBef>
                <a:spcPts val="400"/>
              </a:spcBef>
              <a:defRPr sz="1200">
                <a:solidFill>
                  <a:srgbClr val="5C677D"/>
                </a:solidFill>
                <a:latin typeface="DejaVu Sans"/>
              </a:defRPr>
            </a:pPr>
            <a:r>
              <a:rPr/>
              <a:t>Container-rate Asia → US East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2E8B57"/>
                </a:solidFill>
                <a:latin typeface="DejaVu Sans Mono"/>
              </a:defRPr>
            </a:pPr>
            <a:r>
              <a:rPr/>
              <a:t>−12.4%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400">
                <a:solidFill>
                  <a:srgbClr val="5C677D"/>
                </a:solidFill>
                <a:latin typeface="DejaVu Sans"/>
              </a:defRPr>
            </a:pPr>
            <a:r>
              <a:rPr/>
              <a:t>Spot prices spiked alongside the July frost in Minas Gerais, but the *positive* signal here is the freight reversal: trans-Pacific container rates are finally normalising after twenty months of post-pandemic stickiness.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400" b="1" i="0">
                <a:latin typeface="DejaVu Serif"/>
              </a:rPr>
              <a:t>Arabica vs Robusta spot price</a:t>
            </a:r>
            <a:endParaRPr sz="34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USD per pound, monthly close, Jan-2024 → Apr-2026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37360"/>
          <a:ext cx="105156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i="1">
                <a:solidFill>
                  <a:srgbClr val="5C677D"/>
                </a:solidFill>
                <a:latin typeface="DejaVu Sans"/>
              </a:defRPr>
            </a:pPr>
            <a:r>
              <a:rPr/>
              <a:t>Source: ICO monthly composite. Both grades doubled inside 24 months.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400" b="1" i="0">
                <a:latin typeface="DejaVu Serif"/>
              </a:rPr>
              <a:t>Top importers — volume and YoY change</a:t>
            </a:r>
            <a:endParaRPr sz="34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Green-bean equivalent, '000 metric tons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828800"/>
          <a:ext cx="10515600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1920240"/>
                <a:gridCol w="1920240"/>
                <a:gridCol w="1828800"/>
                <a:gridCol w="2468880"/>
              </a:tblGrid>
              <a:tr h="502920">
                <a:tc>
                  <a:txBody>
                    <a:bodyPr/>
                    <a:lstStyle/>
                    <a:p>
                      <a:pPr algn="l">
                        <a:defRPr b="1" sz="130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Country</a:t>
                      </a:r>
                    </a:p>
                  </a:txBody>
                  <a:tcPr>
                    <a:lnB w="31750">
                      <a:solidFill>
                        <a:srgbClr val="E04E39"/>
                      </a:solidFill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30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Volume FY25</a:t>
                      </a:r>
                    </a:p>
                  </a:txBody>
                  <a:tcPr>
                    <a:lnB w="31750">
                      <a:solidFill>
                        <a:srgbClr val="E04E39"/>
                      </a:solidFill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30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Volume FY26</a:t>
                      </a:r>
                    </a:p>
                  </a:txBody>
                  <a:tcPr>
                    <a:lnB w="31750">
                      <a:solidFill>
                        <a:srgbClr val="E04E39"/>
                      </a:solidFill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30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Δ YoY</a:t>
                      </a:r>
                    </a:p>
                  </a:txBody>
                  <a:tcPr>
                    <a:lnB w="31750">
                      <a:solidFill>
                        <a:srgbClr val="E04E39"/>
                      </a:solidFill>
                    </a:lnB>
                    <a:solidFill>
                      <a:srgbClr val="0B132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b="1" sz="1300">
                          <a:solidFill>
                            <a:srgbClr val="FFFFFF"/>
                          </a:solidFill>
                          <a:latin typeface="DejaVu Sans"/>
                        </a:defRPr>
                      </a:pPr>
                      <a:r>
                        <a:t>Specialty share</a:t>
                      </a:r>
                    </a:p>
                  </a:txBody>
                  <a:tcPr>
                    <a:lnB w="31750">
                      <a:solidFill>
                        <a:srgbClr val="E04E39"/>
                      </a:solidFill>
                    </a:lnB>
                    <a:solidFill>
                      <a:srgbClr val="0B13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B132B"/>
                          </a:solidFill>
                          <a:latin typeface="DejaVu Sans"/>
                        </a:defRPr>
                      </a:pPr>
                      <a:r>
                        <a:t>United States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1,572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1,610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2E8B57"/>
                          </a:solidFill>
                          <a:latin typeface="DejaVu Sans Mono"/>
                        </a:defRPr>
                      </a:pPr>
                      <a:r>
                        <a:t>+2.4%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31%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B132B"/>
                          </a:solidFill>
                          <a:latin typeface="DejaVu Sans"/>
                        </a:defRPr>
                      </a:pPr>
                      <a:r>
                        <a:t>Germany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986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1,021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2E8B57"/>
                          </a:solidFill>
                          <a:latin typeface="DejaVu Sans Mono"/>
                        </a:defRPr>
                      </a:pPr>
                      <a:r>
                        <a:t>+3.5%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29%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B132B"/>
                          </a:solidFill>
                          <a:latin typeface="DejaVu Sans"/>
                        </a:defRPr>
                      </a:pPr>
                      <a:r>
                        <a:t>Italy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612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598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C0392B"/>
                          </a:solidFill>
                          <a:latin typeface="DejaVu Sans Mono"/>
                        </a:defRPr>
                      </a:pPr>
                      <a:r>
                        <a:t>−2.3%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18%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B132B"/>
                          </a:solidFill>
                          <a:latin typeface="DejaVu Sans"/>
                        </a:defRPr>
                      </a:pPr>
                      <a:r>
                        <a:t>Japan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418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445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2E8B57"/>
                          </a:solidFill>
                          <a:latin typeface="DejaVu Sans Mono"/>
                        </a:defRPr>
                      </a:pPr>
                      <a:r>
                        <a:t>+6.4%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34%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B132B"/>
                          </a:solidFill>
                          <a:latin typeface="DejaVu Sans"/>
                        </a:defRPr>
                      </a:pPr>
                      <a:r>
                        <a:t>Belgium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402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451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2E8B57"/>
                          </a:solidFill>
                          <a:latin typeface="DejaVu Sans Mono"/>
                        </a:defRPr>
                      </a:pPr>
                      <a:r>
                        <a:t>+12.2%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22%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AF4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0B132B"/>
                          </a:solidFill>
                          <a:latin typeface="DejaVu Sans"/>
                        </a:defRPr>
                      </a:pPr>
                      <a:r>
                        <a:t>Spain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318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311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 b="1">
                          <a:solidFill>
                            <a:srgbClr val="C0392B"/>
                          </a:solidFill>
                          <a:latin typeface="DejaVu Sans Mono"/>
                        </a:defRPr>
                      </a:pPr>
                      <a:r>
                        <a:t>−2.2%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0B132B"/>
                          </a:solidFill>
                          <a:latin typeface="DejaVu Sans Mono"/>
                        </a:defRPr>
                      </a:pPr>
                      <a:r>
                        <a:t>17%</a:t>
                      </a:r>
                    </a:p>
                  </a:txBody>
                  <a:tcPr>
                    <a:lnB w="6350">
                      <a:solidFill>
                        <a:srgbClr val="E7DE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4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0" b="1">
                <a:solidFill>
                  <a:srgbClr val="FFFFFF">
                    <a:alpha val="35000"/>
                  </a:srgbClr>
                </a:solidFill>
                <a:latin typeface="DejaVu Serif"/>
              </a:defRPr>
            </a:pPr>
            <a:r>
              <a:rPr/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509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3600" i="1">
                <a:solidFill>
                  <a:srgbClr val="FFFFFF"/>
                </a:solidFill>
                <a:latin typeface="DejaVu Serif"/>
              </a:defRPr>
            </a:pPr>
            <a:r>
              <a:rPr/>
              <a:t>We used to budget twelve months ahead. Now we budget twelve weeks ahead, hedge the rest, and pray for an ordinary harvest.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512064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DejaVu Sans"/>
              </a:defRPr>
            </a:pPr>
            <a:r>
              <a:rPr/>
              <a:t>— Marta Quesada</a:t>
            </a:r>
          </a:p>
          <a:p>
            <a:pPr algn="l">
              <a:spcBef>
                <a:spcPts val="200"/>
              </a:spcBef>
              <a:defRPr sz="1400" i="1">
                <a:solidFill>
                  <a:srgbClr val="F4B860"/>
                </a:solidFill>
                <a:latin typeface="DejaVu Sans"/>
              </a:defRPr>
            </a:pPr>
            <a:r>
              <a:rPr/>
              <a:t>Head of Procurement, top-3 European roaster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>
                <a:solidFill>
                  <a:srgbClr val="0B132B"/>
                </a:solidFill>
              </a:defRPr>
            </a:pPr>
            <a:r>
              <a:rPr sz="3400" b="1" i="0">
                <a:latin typeface="DejaVu Serif"/>
              </a:rPr>
              <a:t>What to watch through 2026</a:t>
            </a:r>
            <a:endParaRPr sz="3400" b="1" i="0">
              <a:latin typeface="DejaVu Serif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i="1">
                <a:solidFill>
                  <a:srgbClr val="5C677D"/>
                </a:solidFill>
                <a:latin typeface="DejaVu Sans"/>
              </a:defRPr>
            </a:pPr>
            <a:r>
              <a:rPr/>
              <a:t>Three signals worth the price of a Bloomberg seat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641600"/>
            <a:ext cx="3352698" cy="2489200"/>
          </a:xfrm>
          <a:prstGeom prst="roundRect">
            <a:avLst/>
          </a:prstGeom>
          <a:solidFill>
            <a:srgbClr val="FBF5EC"/>
          </a:solidFill>
          <a:ln>
            <a:noFill/>
          </a:ln>
          <a:effectLst>
            <a:outerShdw blurRad="279400" dist="76200" dir="5400000">
              <a:srgbClr val="0B132B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79400" bIns="279400">
            <a:normAutofit/>
          </a:bodyPr>
          <a:lstStyle/>
          <a:p>
            <a:pPr algn="l">
              <a:defRPr sz="4800" b="1">
                <a:solidFill>
                  <a:srgbClr val="E04E39"/>
                </a:solidFill>
                <a:latin typeface="DejaVu Serif"/>
              </a:defRPr>
            </a:pPr>
            <a:r>
              <a:rPr/>
              <a:t>1</a:t>
            </a:r>
          </a:p>
          <a:p>
            <a:pPr algn="l">
              <a:spcBef>
                <a:spcPts val="400"/>
              </a:spcBef>
              <a:defRPr sz="2200" b="1">
                <a:solidFill>
                  <a:srgbClr val="0B132B"/>
                </a:solidFill>
                <a:latin typeface="DejaVu Serif"/>
              </a:defRPr>
            </a:pPr>
            <a:r>
              <a:rPr/>
              <a:t>Brazilian harvest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defRPr sz="1300">
                <a:solidFill>
                  <a:srgbClr val="5C677D"/>
                </a:solidFill>
                <a:latin typeface="DejaVu Sans"/>
              </a:defRPr>
            </a:pPr>
            <a:r>
              <a:rPr/>
              <a:t>September forecasts will tell us whether the 2026 crop rebuilds inventory or extends the squeeze into FY27.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9498" y="2641600"/>
            <a:ext cx="3352698" cy="2489200"/>
          </a:xfrm>
          <a:prstGeom prst="roundRect">
            <a:avLst/>
          </a:prstGeom>
          <a:solidFill>
            <a:srgbClr val="FBF5EC"/>
          </a:solidFill>
          <a:ln>
            <a:noFill/>
          </a:ln>
          <a:effectLst>
            <a:outerShdw blurRad="279400" dist="76200" dir="5400000">
              <a:srgbClr val="0B132B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79400" bIns="279400">
            <a:normAutofit/>
          </a:bodyPr>
          <a:lstStyle/>
          <a:p>
            <a:pPr algn="l">
              <a:defRPr sz="4800" b="1">
                <a:solidFill>
                  <a:srgbClr val="E04E39"/>
                </a:solidFill>
                <a:latin typeface="DejaVu Serif"/>
              </a:defRPr>
            </a:pPr>
            <a:r>
              <a:rPr/>
              <a:t>2</a:t>
            </a:r>
          </a:p>
          <a:p>
            <a:pPr algn="l">
              <a:spcBef>
                <a:spcPts val="400"/>
              </a:spcBef>
              <a:defRPr sz="2200" b="1">
                <a:solidFill>
                  <a:srgbClr val="0B132B"/>
                </a:solidFill>
                <a:latin typeface="DejaVu Serif"/>
              </a:defRPr>
            </a:pPr>
            <a:r>
              <a:rPr/>
              <a:t>Specialty premium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defRPr sz="1300">
                <a:solidFill>
                  <a:srgbClr val="5C677D"/>
                </a:solidFill>
                <a:latin typeface="DejaVu Sans"/>
              </a:defRPr>
            </a:pPr>
            <a:r>
              <a:rPr/>
              <a:t>If the spread over commodity Arabica narrows below 60c, expect specialty roasters to renegotiate forward contracts.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6197" y="2641600"/>
            <a:ext cx="3352698" cy="2489200"/>
          </a:xfrm>
          <a:prstGeom prst="roundRect">
            <a:avLst/>
          </a:prstGeom>
          <a:solidFill>
            <a:srgbClr val="FBF5EC"/>
          </a:solidFill>
          <a:ln>
            <a:noFill/>
          </a:ln>
          <a:effectLst>
            <a:outerShdw blurRad="279400" dist="76200" dir="5400000">
              <a:srgbClr val="0B132B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9400" rIns="279400" tIns="279400" bIns="279400">
            <a:normAutofit/>
          </a:bodyPr>
          <a:lstStyle/>
          <a:p>
            <a:pPr algn="l">
              <a:defRPr sz="4800" b="1">
                <a:solidFill>
                  <a:srgbClr val="E04E39"/>
                </a:solidFill>
                <a:latin typeface="DejaVu Serif"/>
              </a:defRPr>
            </a:pPr>
            <a:r>
              <a:rPr/>
              <a:t>3</a:t>
            </a:r>
          </a:p>
          <a:p>
            <a:pPr algn="l">
              <a:spcBef>
                <a:spcPts val="400"/>
              </a:spcBef>
              <a:defRPr sz="2200" b="1">
                <a:solidFill>
                  <a:srgbClr val="0B132B"/>
                </a:solidFill>
                <a:latin typeface="DejaVu Serif"/>
              </a:defRPr>
            </a:pPr>
            <a:r>
              <a:rPr/>
              <a:t>Container shipping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defRPr sz="1300">
                <a:solidFill>
                  <a:srgbClr val="5C677D"/>
                </a:solidFill>
                <a:latin typeface="DejaVu Sans"/>
              </a:defRPr>
            </a:pPr>
            <a:r>
              <a:rPr/>
              <a:t>A second consecutive quarter of trans-Pacific rate easing would unlock margin recovery for North American importers.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