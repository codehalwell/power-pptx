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Cardiac monitoring opportunity ($B)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($B)</c:v>
                </c:pt>
              </c:strCache>
            </c:strRef>
          </c:tx>
          <c:spPr>
            <a:gradFill rotWithShape="1">
              <a:gsLst>
                <a:gs pos="0">
                  <a:srgbClr val="4338CA"/>
                </a:gs>
                <a:gs pos="100000">
                  <a:srgbClr val="10B981"/>
                </a:gs>
              </a:gsLst>
              <a:lin scaled="0"/>
            </a:gradFill>
          </c:spPr>
          <c:cat>
            <c:strRef>
              <c:f>Sheet1!$A$2:$A$4</c:f>
              <c:strCache>
                <c:ptCount val="3"/>
                <c:pt idx="0">
                  <c:v>TAM (global cardiac monitoring)</c:v>
                </c:pt>
                <c:pt idx="1">
                  <c:v>SAM (U.S. AFib screening)</c:v>
                </c:pt>
                <c:pt idx="2">
                  <c:v>SOM (5 yr target)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148</c:v>
                </c:pt>
                <c:pt idx="1">
                  <c:v>48</c:v>
                </c:pt>
                <c:pt idx="2">
                  <c:v>6.2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Helio Health — annual recurring revenue &amp; active patients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4338CA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56</c:v>
                </c:pt>
                <c:pt idx="2">
                  <c:v>108</c:v>
                </c:pt>
                <c:pt idx="3">
                  <c:v>162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Patients on platform (k)</c:v>
                </c:pt>
              </c:strCache>
            </c:strRef>
          </c:tx>
          <c:spPr>
            <a:solidFill>
              <a:srgbClr val="10B981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FY23</c:v>
                </c:pt>
                <c:pt idx="1">
                  <c:v>FY24</c:v>
                </c:pt>
                <c:pt idx="2">
                  <c:v>FY25</c:v>
                </c:pt>
                <c:pt idx="3">
                  <c:v>FY26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210</c:v>
                </c:pt>
                <c:pt idx="1">
                  <c:v>480</c:v>
                </c:pt>
                <c:pt idx="2">
                  <c:v>940</c:v>
                </c:pt>
                <c:pt idx="3">
                  <c:v>1410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4338CA"/>
              </a:gs>
              <a:gs pos="100000">
                <a:srgbClr val="111827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Inter"/>
              </a:defRPr>
            </a:pPr>
            <a:r>
              <a:rPr/>
              <a:t>SERIES D — $180M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Helio Health.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The operating system for cardiac care.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2800" b="0" i="0">
                <a:latin typeface="Inter"/>
              </a:rPr>
              <a:t>A clinically-validated platform that has detected atrial fibrillation in 1.4M patients and reduced stroke incidence by 31% in deployed populations.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1827"/>
                </a:solidFill>
                <a:latin typeface="Inter"/>
              </a:defRPr>
            </a:pPr>
            <a:r>
              <a:rPr/>
              <a:t>Dr. Anya Patel, Co-founder &amp; CEO  |  David Park, CFO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Atrial fibrillation is the silent epidemic of the developed world.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4000" b="1">
                <a:solidFill>
                  <a:srgbClr val="4338CA"/>
                </a:solidFill>
                <a:latin typeface="Inter"/>
              </a:defRPr>
            </a:pPr>
            <a:r>
              <a:rPr/>
              <a:t>38M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people living with AFib globally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4000" b="1">
                <a:solidFill>
                  <a:srgbClr val="4338CA"/>
                </a:solidFill>
                <a:latin typeface="Inter"/>
              </a:defRPr>
            </a:pPr>
            <a:r>
              <a:rPr/>
              <a:t>1 in 4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adults will develop AFib in their lifetime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4000" b="1">
                <a:solidFill>
                  <a:srgbClr val="4338CA"/>
                </a:solidFill>
                <a:latin typeface="Inter"/>
              </a:defRPr>
            </a:pPr>
            <a:r>
              <a:rPr/>
              <a:t>$26B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annual U.S. cost of AFib-related strokes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34856" y="1783080"/>
            <a:ext cx="2697480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4000" b="1">
                <a:solidFill>
                  <a:srgbClr val="4338CA"/>
                </a:solidFill>
                <a:latin typeface="Inter"/>
              </a:defRPr>
            </a:pPr>
            <a:r>
              <a:rPr/>
              <a:t>70%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of cases are caught only after a stroke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1106424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1800" b="0" i="0">
                <a:latin typeface="Inter"/>
              </a:rPr>
              <a:t>AFib is asymptomatic, episodic, and easily missed by annual visits. Existing screening — 12-lead ECGs and Holter monitors — is expensive, episodic, and inaccessible at population scale.</a:t>
            </a:r>
            <a:endParaRPr sz="1800" b="0" i="0"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Continuous, FDA-cleared, ambient cardiac monitoring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49039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111827"/>
                </a:solidFill>
                <a:latin typeface="Inter"/>
              </a:defRPr>
            </a:pPr>
            <a:r>
              <a:rPr/>
              <a:t>Wearable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Adhesive patch worn 14 days. Class II, single-lead. 99.1% sensitivity.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749039" cy="146304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19" y="1691640"/>
            <a:ext cx="3749039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111827"/>
                </a:solidFill>
                <a:latin typeface="Inter"/>
              </a:defRPr>
            </a:pPr>
            <a:r>
              <a:rPr/>
              <a:t>Platform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On-device ML triages, cloud confirms, clinician adjudicates. HIPAA / SOC 2 II.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19" y="1691640"/>
            <a:ext cx="3749039" cy="14630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599" y="1691640"/>
            <a:ext cx="3749039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111827"/>
                </a:solidFill>
                <a:latin typeface="Inter"/>
              </a:defRPr>
            </a:pPr>
            <a:r>
              <a:rPr/>
              <a:t>Reimbursement</a:t>
            </a:r>
          </a:p>
          <a:p>
            <a:pPr>
              <a:spcBef>
                <a:spcPts val="600"/>
              </a:spcBef>
              <a:defRPr sz="1300">
                <a:solidFill>
                  <a:srgbClr val="6B7280"/>
                </a:solidFill>
              </a:defRPr>
            </a:pPr>
            <a:r>
              <a:rPr/>
              <a:t>CPT 93241–93248 reimbursable in 32 payers. Average revenue $812 per study.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599" y="1691640"/>
            <a:ext cx="3749039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434840"/>
            <a:ext cx="11064240" cy="155448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4338CA"/>
              </a:gs>
              <a:gs pos="100000">
                <a:srgbClr val="10B981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55600" rIns="355600" tIns="254000"/>
          <a:lstStyle/>
          <a:p>
            <a:pPr>
              <a:defRPr sz="1200" b="1">
                <a:solidFill>
                  <a:srgbClr val="FFFFFF">
                    <a:alpha val="90000"/>
                  </a:srgbClr>
                </a:solidFill>
                <a:latin typeface="Inter"/>
              </a:defRPr>
            </a:pPr>
            <a:r>
              <a:rPr/>
              <a:t>Clinically demonstrated outcome</a:t>
            </a:r>
          </a:p>
          <a:p>
            <a:pPr>
              <a:spcBef>
                <a:spcPts val="400"/>
              </a:spcBef>
              <a:defRPr sz="2000" b="1">
                <a:solidFill>
                  <a:srgbClr val="FFFFFF"/>
                </a:solidFill>
                <a:latin typeface="Inter"/>
              </a:defRPr>
            </a:pPr>
            <a:r>
              <a:rPr/>
              <a:t>31% reduction in stroke incidence over 24 months in 41,000 deployed patients (peer-reviewed, JACC 2025).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$48B SAM in the U.S. alone, growing 18% annually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6809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03920" y="1554480"/>
            <a:ext cx="3200400" cy="45720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2000" b="1">
                <a:solidFill>
                  <a:srgbClr val="4338CA"/>
                </a:solidFill>
                <a:latin typeface="Inter"/>
              </a:defRPr>
            </a:pPr>
            <a:r>
              <a:rPr/>
              <a:t>Why now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USPSTF guidance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AFib screening recommended for adults 65+ as of Jan 2025.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Reimbursement parity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32 payers now cover at parity with hospital telemetry.</a:t>
            </a:r>
          </a:p>
          <a:p>
            <a:pPr>
              <a:spcBef>
                <a:spcPts val="1000"/>
              </a:spcBef>
              <a:defRPr sz="1300" b="1">
                <a:solidFill>
                  <a:srgbClr val="111827"/>
                </a:solidFill>
              </a:defRPr>
            </a:pPr>
            <a:r>
              <a:rPr/>
              <a:t>Wearable ubiquity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78% of adults 60+ own a smartphone — distribution at hand.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ARR has 7×'d in three years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4338CA"/>
                </a:solidFill>
                <a:latin typeface="Inter"/>
              </a:rPr>
              <a:t>Compounding unit economics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4338CA"/>
                </a:solidFill>
                <a:latin typeface="Inter"/>
              </a:rPr>
              <a:t>$162M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+1.4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4338CA"/>
                </a:solidFill>
                <a:latin typeface="Inter"/>
              </a:rPr>
              <a:t>138%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Net dollar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+7%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4338CA"/>
                </a:solidFill>
                <a:latin typeface="Inter"/>
              </a:rP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Gross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Inter"/>
              </a:rPr>
              <a:t>+6%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4338CA"/>
                </a:solidFill>
                <a:latin typeface="Inter"/>
              </a:rPr>
              <a:t>11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CAC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EF4444"/>
                </a:solidFill>
                <a:latin typeface="Inter"/>
              </a:rPr>
              <a:t>−18%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Three motions, sequenced over the next four years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 bIns="254000">
            <a:normAutofit/>
          </a:bodyPr>
          <a:lstStyle/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FY26 — FY27</a:t>
            </a:r>
          </a:p>
          <a:p>
            <a:pPr>
              <a:spcBef>
                <a:spcPts val="400"/>
              </a:spcBef>
              <a:defRPr sz="2000" b="1">
                <a:solidFill>
                  <a:srgbClr val="111827"/>
                </a:solidFill>
                <a:latin typeface="Inter"/>
              </a:defRPr>
            </a:pPr>
            <a:r>
              <a:rPr/>
              <a:t>Now — Cardiology clinics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Direct sales to 1,800 cardiology practices in N. America. ACV $185k.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 bIns="254000">
            <a:norm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FY27 — FY28</a:t>
            </a:r>
          </a:p>
          <a:p>
            <a:pPr>
              <a:spcBef>
                <a:spcPts val="400"/>
              </a:spcBef>
              <a:defRPr sz="2000" b="1">
                <a:solidFill>
                  <a:srgbClr val="111827"/>
                </a:solidFill>
                <a:latin typeface="Inter"/>
              </a:defRPr>
            </a:pPr>
            <a:r>
              <a:rPr/>
              <a:t>Next — Health systems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Enterprise contracts with IDNs and ACOs. Outcomes-based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54000" bIns="254000">
            <a:normAutofit/>
          </a:bodyPr>
          <a:lstStyle/>
          <a:p>
            <a:pPr>
              <a:defRPr sz="1100" b="1">
                <a:solidFill>
                  <a:srgbClr val="F59E0B"/>
                </a:solidFill>
                <a:latin typeface="Inter"/>
              </a:defRPr>
            </a:pPr>
            <a:r>
              <a:rPr/>
              <a:t>FY28 — FY29</a:t>
            </a:r>
          </a:p>
          <a:p>
            <a:pPr>
              <a:spcBef>
                <a:spcPts val="400"/>
              </a:spcBef>
              <a:defRPr sz="2000" b="1">
                <a:solidFill>
                  <a:srgbClr val="111827"/>
                </a:solidFill>
                <a:latin typeface="Inter"/>
              </a:defRPr>
            </a:pPr>
            <a:r>
              <a:rPr/>
              <a:t>Then — Payer partnerships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  <a:latin typeface="Inter"/>
              </a:defRPr>
            </a:pPr>
            <a:r>
              <a:rPr/>
              <a:t>Capitated screening for Medicare Advantage cohorts. PMPM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Five compounding advantages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6126480"/>
                <a:gridCol w="2468880"/>
              </a:tblGrid>
              <a:tr h="67056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Advantage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Years to replicate</a:t>
                      </a:r>
                    </a:p>
                  </a:txBody>
                  <a:tcPr anchor="ctr">
                    <a:solidFill>
                      <a:srgbClr val="4338C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Regulatory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Two FDA clearances (K223104, K231881) and CE mark.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3–4 years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Clinical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Peer-reviewed JACC outcomes study with 41k patients.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4–5 years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Reimbursement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32 payer contracts at parity rates negotiated since 2022.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3+ years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Data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1.4M annotated rhythm strips — proprietary training set.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5+ years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4338CA"/>
                          </a:solidFill>
                        </a:defRPr>
                      </a:pPr>
                      <a:r>
                        <a:t>Distribution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1,800 cardiology relationships, NPS 71.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11827"/>
                          </a:solidFill>
                        </a:defRPr>
                      </a:pPr>
                      <a:r>
                        <a:t>3+ years</a:t>
                      </a:r>
                    </a:p>
                  </a:txBody>
                  <a:tcPr anchor="ctr">
                    <a:lnB w="6350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Inter"/>
              </a:defRPr>
            </a:pPr>
            <a:r>
              <a:rPr/>
              <a:t>LEADERSHIP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111827"/>
                </a:solidFill>
              </a:defRPr>
            </a:pPr>
            <a:r>
              <a:rPr sz="3200" b="1" i="0">
                <a:latin typeface="Inter"/>
              </a:rPr>
              <a:t>Operators who have built and exited in this market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Dr. Anya Patel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Co-founder &amp; CEO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Practicing electrophysiologist. Ex-VP, Clinical at Abbott (Verily acquired).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Marcus Lee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Co-founder &amp; CTO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Ex-Principal ML, Apple Health. Architected Apple Watch ECG.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64592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David Park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CFO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Took GeniusCardio public in 2019 ($2.4B exit).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Dr. Lia Hernandez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Chief Medical Officer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Past President, Heart Rhythm Society. 140+ publications.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Aisha Khan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Chief Commercial Officer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Built and led Boston Scientific's diagnostics field org.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4069080"/>
            <a:ext cx="3703320" cy="2240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11182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177800" bIns="177800"/>
          <a:lstStyle/>
          <a:p>
            <a:pPr>
              <a:defRPr sz="1700" b="1">
                <a:solidFill>
                  <a:srgbClr val="111827"/>
                </a:solidFill>
                <a:latin typeface="Inter"/>
              </a:defRPr>
            </a:pPr>
            <a:r>
              <a:rPr/>
              <a:t>James Okafor</a:t>
            </a:r>
          </a:p>
          <a:p>
            <a:pPr>
              <a:defRPr sz="1100" b="1">
                <a:solidFill>
                  <a:srgbClr val="4338CA"/>
                </a:solidFill>
                <a:latin typeface="Inter"/>
              </a:defRPr>
            </a:pPr>
            <a:r>
              <a:rPr/>
              <a:t>Chief Regulatory Officer</a:t>
            </a:r>
          </a:p>
          <a:p>
            <a:pPr>
              <a:spcBef>
                <a:spcPts val="600"/>
              </a:spcBef>
              <a:defRPr sz="1100">
                <a:solidFill>
                  <a:srgbClr val="6B7280"/>
                </a:solidFill>
                <a:latin typeface="Inter"/>
              </a:defRPr>
            </a:pPr>
            <a:r>
              <a:rPr/>
              <a:t>Ex-FDA reviewer, Class II/III cardiology devices.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Helio Health — Series D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338C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rPr/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5200" b="1" i="0">
                <a:latin typeface="Inter"/>
              </a:rPr>
              <a:t>$180M Series D at a $1.6B post-money.</a:t>
            </a:r>
            <a:endParaRPr sz="5200" b="1" i="0">
              <a:latin typeface="Inter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2651760" cy="21945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rPr/>
              <a:t>$70M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rPr/>
              <a:t>Sales &amp; marketing — health-system motion build-out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3657600"/>
            <a:ext cx="2651760" cy="21945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rPr/>
              <a:t>$55M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rPr/>
              <a:t>R&amp;D — atrial flutter + heart-failure expansion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3657600"/>
            <a:ext cx="2651760" cy="21945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rPr/>
              <a:t>$30M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rPr/>
              <a:t>International — UK, Germany, Japan launches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3657600"/>
            <a:ext cx="2651760" cy="2194560"/>
          </a:xfrm>
          <a:prstGeom prst="roundRect">
            <a:avLst/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4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>
              <a:defRPr sz="2800" b="1">
                <a:solidFill>
                  <a:srgbClr val="10B981"/>
                </a:solidFill>
                <a:latin typeface="Inter"/>
              </a:defRPr>
            </a:pPr>
            <a:r>
              <a:rPr/>
              <a:t>$25M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  <a:latin typeface="Inter"/>
              </a:defRPr>
            </a:pPr>
            <a:r>
              <a:rPr/>
              <a:t>Working capital &amp; balance sheet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4338CA"/>
              </a:gs>
              <a:gs pos="100000">
                <a:srgbClr val="111827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Cardiac care, run as software.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10B981"/>
                </a:solidFill>
              </a:defRPr>
            </a:pPr>
            <a:r>
              <a:rPr sz="2200" b="0" i="0">
                <a:latin typeface="Inter"/>
              </a:rPr>
              <a:t>anya@heliohealth.com  |  david@heliohealth.com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