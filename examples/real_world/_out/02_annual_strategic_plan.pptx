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Addressable market ($B)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Industrial software TAM ($B)</c:v>
                </c:pt>
              </c:strCache>
            </c:strRef>
          </c:tx>
          <c:spPr>
            <a:solidFill>
              <a:srgbClr val="1E3A8A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  <c:pt idx="4">
                  <c:v>FY28</c:v>
                </c:pt>
                <c:pt idx="5">
                  <c:v>FY29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71</c:v>
                </c:pt>
                <c:pt idx="2">
                  <c:v>82</c:v>
                </c:pt>
                <c:pt idx="3">
                  <c:v>96</c:v>
                </c:pt>
                <c:pt idx="4">
                  <c:v>112</c:v>
                </c:pt>
                <c:pt idx="5">
                  <c:v>131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Industrial hardware TAM ($B)</c:v>
                </c:pt>
              </c:strCache>
            </c:strRef>
          </c:tx>
          <c:spPr>
            <a:solidFill>
              <a:srgbClr val="0EA5E9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  <c:pt idx="4">
                  <c:v>FY28</c:v>
                </c:pt>
                <c:pt idx="5">
                  <c:v>FY29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148</c:v>
                </c:pt>
                <c:pt idx="1">
                  <c:v>152</c:v>
                </c:pt>
                <c:pt idx="2">
                  <c:v>157</c:v>
                </c:pt>
                <c:pt idx="3">
                  <c:v>162</c:v>
                </c:pt>
                <c:pt idx="4">
                  <c:v>167</c:v>
                </c:pt>
                <c:pt idx="5">
                  <c:v>172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Aftermarket services TAM ($B)</c:v>
                </c:pt>
              </c:strCache>
            </c:strRef>
          </c:tx>
          <c:spPr>
            <a:solidFill>
              <a:srgbClr val="10B981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  <c:pt idx="4">
                  <c:v>FY28</c:v>
                </c:pt>
                <c:pt idx="5">
                  <c:v>FY29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94</c:v>
                </c:pt>
                <c:pt idx="1">
                  <c:v>98</c:v>
                </c:pt>
                <c:pt idx="2">
                  <c:v>103</c:v>
                </c:pt>
                <c:pt idx="3">
                  <c:v>108</c:v>
                </c:pt>
                <c:pt idx="4">
                  <c:v>113</c:v>
                </c:pt>
                <c:pt idx="5">
                  <c:v>119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FY27 strategic investment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 plan ($M)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0EA5E9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8B5CF6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Industrial Cloud platform</c:v>
                </c:pt>
                <c:pt idx="1">
                  <c:v>Outcome-based GTM</c:v>
                </c:pt>
                <c:pt idx="2">
                  <c:v>International expansion</c:v>
                </c:pt>
                <c:pt idx="3">
                  <c:v>Manufacturing automation</c:v>
                </c:pt>
                <c:pt idx="4">
                  <c:v>Workforce upskilling</c:v>
                </c:pt>
                <c:pt idx="5">
                  <c:v>Brand &amp; demand gen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560</c:v>
                </c:pt>
                <c:pt idx="1">
                  <c:v>380</c:v>
                </c:pt>
                <c:pt idx="2">
                  <c:v>320</c:v>
                </c:pt>
                <c:pt idx="3">
                  <c:v>280</c:v>
                </c:pt>
                <c:pt idx="4">
                  <c:v>180</c:v>
                </c:pt>
                <c:pt idx="5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Inter"/>
              </a:defRPr>
            </a:pPr>
            <a:r>
              <a:rPr/>
              <a:t>ANNUAL STRATEGIC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Three Horizons.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One Compounding Engine.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Our path from $19B to $30B in revenue, anchored in software-led platform expansion and durable margin.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Marcus Chen, Chief Executive Officer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Executive Committee Offsite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E3A8A"/>
                </a:solidFill>
                <a:latin typeface="Inter"/>
              </a:rPr>
              <a:t>Where we are today (FY26)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Inter"/>
              </a:rPr>
              <a:t>$18.93B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Inter"/>
              </a:rPr>
              <a:t>26.0%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Operating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Inter"/>
              </a:rPr>
              <a:t>$4.6B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Software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+24%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Inter"/>
              </a:rPr>
              <a:t>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Customer 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Industrial software TAM doubles by FY29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554480"/>
            <a:ext cx="32004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>
            <a:noAutofit/>
          </a:bodyPr>
          <a:lstStyle/>
          <a:p>
            <a:pPr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IMPLICATION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Pivot mix to software</a:t>
            </a:r>
          </a:p>
          <a:p>
            <a:pPr>
              <a:spcBef>
                <a:spcPts val="600"/>
              </a:spcBef>
              <a:defRPr sz="1300" b="0">
                <a:solidFill>
                  <a:srgbClr val="64748B"/>
                </a:solidFill>
                <a:latin typeface="Inter"/>
              </a:defRPr>
            </a:pPr>
            <a:r>
              <a:rPr/>
              <a:t>If we hold today's mix, we capture a shrinking share of a growing market. We must shift 700 bps of revenue mix into software and recurring services by FY29.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Three pillars, one platform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7033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128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Industrial Cloud</a:t>
            </a:r>
          </a:p>
          <a:p>
            <a:pPr>
              <a:spcBef>
                <a:spcPts val="600"/>
              </a:spcBef>
              <a:defRPr sz="1300" i="1">
                <a:solidFill>
                  <a:srgbClr val="64748B"/>
                </a:solidFill>
                <a:latin typeface="Inter"/>
              </a:defRPr>
            </a:pPr>
            <a:r>
              <a:rPr/>
              <a:t>Become the system-of-record for asset performance.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Unify Equipment + Software + Services data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Open APIs to ERP and CMMS systems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Customer 360 and predictive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7033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rPr/>
              <a:t>PILLAR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7033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128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Outcome-based contracts</a:t>
            </a:r>
          </a:p>
          <a:p>
            <a:pPr>
              <a:spcBef>
                <a:spcPts val="600"/>
              </a:spcBef>
              <a:defRPr sz="1300" i="1">
                <a:solidFill>
                  <a:srgbClr val="64748B"/>
                </a:solidFill>
                <a:latin typeface="Inter"/>
              </a:defRPr>
            </a:pPr>
            <a:r>
              <a:rPr/>
              <a:t>Sell uptime and yield, not boxes.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Pilot 12 strategic accounts in FY27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Move 20% of segment revenue to subscription by FY29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Tie commercial terms to operational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70332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rPr/>
              <a:t>PILLAR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7033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8128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Geographic depth</a:t>
            </a:r>
          </a:p>
          <a:p>
            <a:pPr>
              <a:spcBef>
                <a:spcPts val="600"/>
              </a:spcBef>
              <a:defRPr sz="1300" i="1">
                <a:solidFill>
                  <a:srgbClr val="64748B"/>
                </a:solidFill>
                <a:latin typeface="Inter"/>
              </a:defRPr>
            </a:pPr>
            <a:r>
              <a:rPr/>
              <a:t>Win share in MENA, India, and Southeast Asia.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Localised manufacturing in Pune and Riyadh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Tripled regional sales footprint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Inter"/>
              </a:defRPr>
            </a:pPr>
            <a:r>
              <a:rPr/>
              <a:t>•  Sovereign data residency by Q3 FY27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703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rPr/>
              <a:t>PILLAR 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North-star metrics — FY29 commitments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FY26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FY27 plan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FY28 plan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FY29 commit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$18.9B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$20.5B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$23.0B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$30.0B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Software ARR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$4.6B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$5.7B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$8.0B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$11.0B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Software % of revenue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Operating margin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26.0%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Customer NPS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rPr/>
              <a:t>Reviewed quarterly by the Executive Committee. Anchored in our long-term incentive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CAPITAL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FY27 investment envelope: $1.85B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554480"/>
            <a:ext cx="30175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>
            <a:noAutofit/>
          </a:bodyPr>
          <a:lstStyle/>
          <a:p>
            <a:pPr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FUNDING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Inter"/>
              </a:defRPr>
            </a:pPr>
            <a:r>
              <a:rPr/>
              <a:t>60% reallocated, 40% incremental</a:t>
            </a:r>
          </a:p>
          <a:p>
            <a:pPr>
              <a:spcBef>
                <a:spcPts val="600"/>
              </a:spcBef>
              <a:defRPr sz="1300" b="0">
                <a:solidFill>
                  <a:srgbClr val="64748B"/>
                </a:solidFill>
                <a:latin typeface="Inter"/>
              </a:defRPr>
            </a:pPr>
            <a:r>
              <a:rPr/>
              <a:t>$1.1B of FY27 spend comes from sun-setting six legacy programs and tightening discretionary opex; the remainder is funded by retained free cash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Operating model — what changes in FY27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One global P&amp;L for software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Industrial Software consolidates under a single GM with cross-segment authority.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Outcome squads, not project teams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Multi-functional squads aligned to a customer outcome with named sponsors and durable funding.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Quarterly portfolio review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30 strategic programs reviewed every 90 days; anything red two quarters in a row is killed or reset.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976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Engineering-led pricing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Pricing committee chaired by the CTO, not the CFO — value-based, telemetry-informed.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Talent density over headcount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Net-zero growth in non-engineering G&amp;A; double engineering bar with internal mobility.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rPr/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What could derail us — and how we'll respond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321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rPr/>
              <a:t>Talent attrition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rPr/>
              <a:t>Loss of senior software engineering leaders during the platform rebuild.</a:t>
            </a:r>
          </a:p>
          <a:p>
            <a:pPr>
              <a:spcBef>
                <a:spcPts val="800"/>
              </a:spcBef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Mitigation</a:t>
            </a:r>
          </a:p>
          <a:p>
            <a:pPr>
              <a:defRPr sz="1100">
                <a:solidFill>
                  <a:srgbClr val="64748B"/>
                </a:solidFill>
                <a:latin typeface="Inter"/>
              </a:defRPr>
            </a:pPr>
            <a:r>
              <a:rPr/>
              <a:t>Retention grants for top 200; rotational program; engineering brand investment.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5321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rPr/>
              <a:t>Customer transition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rPr/>
              <a:t>Existing perpetual-license customers resist subscription conversion.</a:t>
            </a:r>
          </a:p>
          <a:p>
            <a:pPr>
              <a:spcBef>
                <a:spcPts val="800"/>
              </a:spcBef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Mitigation</a:t>
            </a:r>
          </a:p>
          <a:p>
            <a:pPr>
              <a:defRPr sz="1100">
                <a:solidFill>
                  <a:srgbClr val="64748B"/>
                </a:solidFill>
                <a:latin typeface="Inter"/>
              </a:defRPr>
            </a:pPr>
            <a:r>
              <a:rPr/>
              <a:t>5-year glide-path pricing; cloud-credit incentives; co-development for top 25 logos.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5321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rPr/>
              <a:t>Geopolitical / trade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rPr/>
              <a:t>Sanctions or tariffs disrupt component flow from one geography.</a:t>
            </a:r>
          </a:p>
          <a:p>
            <a:pPr>
              <a:spcBef>
                <a:spcPts val="800"/>
              </a:spcBef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Mitigation</a:t>
            </a:r>
          </a:p>
          <a:p>
            <a:pPr>
              <a:defRPr sz="1100">
                <a:solidFill>
                  <a:srgbClr val="64748B"/>
                </a:solidFill>
                <a:latin typeface="Inter"/>
              </a:defRPr>
            </a:pPr>
            <a:r>
              <a:rPr/>
              <a:t>Dual-source qualification target: 100% by Q4 FY27; 90 days of buffer inventory.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53212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rPr/>
              <a:t>Execution capacity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Inter"/>
              </a:defRPr>
            </a:pPr>
            <a:r>
              <a:rPr/>
              <a:t>Pursuing all three pillars at once exceeds organisational bandwidth.</a:t>
            </a:r>
          </a:p>
          <a:p>
            <a:pPr>
              <a:spcBef>
                <a:spcPts val="800"/>
              </a:spcBef>
              <a:defRPr sz="1000" b="1">
                <a:solidFill>
                  <a:srgbClr val="0EA5E9"/>
                </a:solidFill>
                <a:latin typeface="Inter"/>
              </a:defRPr>
            </a:pPr>
            <a:r>
              <a:rPr/>
              <a:t>Mitigation</a:t>
            </a:r>
          </a:p>
          <a:p>
            <a:pPr>
              <a:defRPr sz="1100">
                <a:solidFill>
                  <a:srgbClr val="64748B"/>
                </a:solidFill>
                <a:latin typeface="Inter"/>
              </a:defRPr>
            </a:pPr>
            <a:r>
              <a:rPr/>
              <a:t>Quarterly portfolio gate; ruthless killing of legacy programs; outcome-squad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1">
                <a:solidFill>
                  <a:srgbClr val="1E3A8A"/>
                </a:solidFill>
                <a:latin typeface="Inter"/>
              </a:rPr>
              <a:t>“Strategy without execution is decoration. We will measure ourselves quarterly against the same five north-star metrics from now until the end of FY29.”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— Marcus Chen, Chief Executive Officer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Strategic Plan FY27–FY29  |  Confidential — Executive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From plan to motion.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0EA5E9"/>
                </a:solidFill>
              </a:defRPr>
            </a:pPr>
            <a:r>
              <a:rPr sz="2200" b="0" i="0">
                <a:latin typeface="Inter"/>
              </a:rPr>
              <a:t>Functional plans due to COO by June 30, 2026.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