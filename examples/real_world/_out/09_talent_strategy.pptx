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Engagement &amp; retention trajectory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eNPS</c:v>
                </c:pt>
              </c:strCache>
            </c:strRef>
          </c:tx>
          <c:spPr>
            <a:solidFill>
              <a:srgbClr val="9D174D"/>
            </a:solidFill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Q1 FY25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Q1 FY26</c:v>
                </c:pt>
                <c:pt idx="5">
                  <c:v>Q2</c:v>
                </c:pt>
                <c:pt idx="6">
                  <c:v>Q3</c:v>
                </c:pt>
                <c:pt idx="7">
                  <c:v>Q4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</c:v>
                </c:pt>
                <c:pt idx="1">
                  <c:v>16</c:v>
                </c:pt>
                <c:pt idx="2">
                  <c:v>20</c:v>
                </c:pt>
                <c:pt idx="3">
                  <c:v>24</c:v>
                </c:pt>
                <c:pt idx="4">
                  <c:v>28</c:v>
                </c:pt>
                <c:pt idx="5">
                  <c:v>32</c:v>
                </c:pt>
                <c:pt idx="6">
                  <c:v>35</c:v>
                </c:pt>
                <c:pt idx="7">
                  <c:v>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Voluntary attrition % (×4 scale)</c:v>
                </c:pt>
              </c:strCache>
            </c:strRef>
          </c:tx>
          <c:spPr>
            <a:solidFill>
              <a:srgbClr val="F59E0B"/>
            </a:solidFill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Q1 FY25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Q1 FY26</c:v>
                </c:pt>
                <c:pt idx="5">
                  <c:v>Q2</c:v>
                </c:pt>
                <c:pt idx="6">
                  <c:v>Q3</c:v>
                </c:pt>
                <c:pt idx="7">
                  <c:v>Q4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44</c:v>
                </c:pt>
                <c:pt idx="1">
                  <c:v>42</c:v>
                </c:pt>
                <c:pt idx="2">
                  <c:v>40</c:v>
                </c:pt>
                <c:pt idx="3">
                  <c:v>38</c:v>
                </c:pt>
                <c:pt idx="4">
                  <c:v>36</c:v>
                </c:pt>
                <c:pt idx="5">
                  <c:v>35</c:v>
                </c:pt>
                <c:pt idx="6">
                  <c:v>34</c:v>
                </c:pt>
                <c:pt idx="7">
                  <c:v>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Women in leadership (% of role)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FY24</c:v>
                </c:pt>
              </c:strCache>
            </c:strRef>
          </c:tx>
          <c:spPr>
            <a:solidFill>
              <a:srgbClr val="6B7280"/>
            </a:solidFill>
          </c:spPr>
          <c:cat>
            <c:strRef>
              <c:f>Sheet1!$A$2:$A$6</c:f>
              <c:strCache>
                <c:ptCount val="5"/>
                <c:pt idx="0">
                  <c:v>Frontline</c:v>
                </c:pt>
                <c:pt idx="1">
                  <c:v>Manager</c:v>
                </c:pt>
                <c:pt idx="2">
                  <c:v>Director</c:v>
                </c:pt>
                <c:pt idx="3">
                  <c:v>VP+</c:v>
                </c:pt>
                <c:pt idx="4">
                  <c:v>Officers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38</c:v>
                </c:pt>
                <c:pt idx="2">
                  <c:v>31</c:v>
                </c:pt>
                <c:pt idx="3">
                  <c:v>24</c:v>
                </c:pt>
                <c:pt idx="4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</c:v>
                </c:pt>
              </c:strCache>
            </c:strRef>
          </c:tx>
          <c:spPr>
            <a:solidFill>
              <a:srgbClr val="9D174D"/>
            </a:solidFill>
          </c:spPr>
          <c:cat>
            <c:strRef>
              <c:f>Sheet1!$A$2:$A$6</c:f>
              <c:strCache>
                <c:ptCount val="5"/>
                <c:pt idx="0">
                  <c:v>Frontline</c:v>
                </c:pt>
                <c:pt idx="1">
                  <c:v>Manager</c:v>
                </c:pt>
                <c:pt idx="2">
                  <c:v>Director</c:v>
                </c:pt>
                <c:pt idx="3">
                  <c:v>VP+</c:v>
                </c:pt>
                <c:pt idx="4">
                  <c:v>Officers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47</c:v>
                </c:pt>
                <c:pt idx="1">
                  <c:v>43</c:v>
                </c:pt>
                <c:pt idx="2">
                  <c:v>37</c:v>
                </c:pt>
                <c:pt idx="3">
                  <c:v>31</c:v>
                </c:pt>
                <c:pt idx="4">
                  <c:v>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FY29 target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Sheet1!$A$2:$A$6</c:f>
              <c:strCache>
                <c:ptCount val="5"/>
                <c:pt idx="0">
                  <c:v>Frontline</c:v>
                </c:pt>
                <c:pt idx="1">
                  <c:v>Manager</c:v>
                </c:pt>
                <c:pt idx="2">
                  <c:v>Director</c:v>
                </c:pt>
                <c:pt idx="3">
                  <c:v>VP+</c:v>
                </c:pt>
                <c:pt idx="4">
                  <c:v>Officers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50</c:v>
                </c:pt>
                <c:pt idx="1">
                  <c:v>50</c:v>
                </c:pt>
                <c:pt idx="2">
                  <c:v>45</c:v>
                </c:pt>
                <c:pt idx="3">
                  <c:v>40</c:v>
                </c:pt>
                <c:pt idx="4">
                  <c:v>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gradFill rotWithShape="1">
            <a:gsLst>
              <a:gs pos="0">
                <a:srgbClr val="9D174D"/>
              </a:gs>
              <a:gs pos="100000">
                <a:srgbClr val="1F2937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Inter"/>
              </a:defRPr>
            </a:pPr>
            <a:r>
              <a:rPr/>
              <a:t>TALENT &amp; WORKFORCE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297680" cy="2926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4400" b="1" i="0">
                <a:latin typeface="Inter"/>
              </a:rPr>
              <a:t>Our people are the</a:t>
            </a:r>
            <a:endParaRPr sz="4400" b="1" i="0">
              <a:latin typeface="Inter"/>
            </a:endParaRPr>
          </a:p>
          <a:p>
            <a:r>
              <a:rPr sz="4400" b="1" i="0">
                <a:latin typeface="Inter"/>
              </a:rPr>
              <a:t>compounding asset.</a:t>
            </a:r>
            <a:endParaRPr sz="4400" b="1" i="0"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377440"/>
            <a:ext cx="621792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F2937"/>
                </a:solidFill>
              </a:defRPr>
            </a:pPr>
            <a:r>
              <a:rPr sz="2800" b="0" i="0">
                <a:latin typeface="Inter"/>
              </a:rPr>
              <a:t>An honest read on engagement, representation, and leadership — and the seven moves that earn us the right to call ourselves a destination employer.</a:t>
            </a:r>
            <a:endParaRPr sz="2800" b="0" i="0"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530352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Inter"/>
              </a:defRPr>
            </a:pPr>
            <a:r>
              <a:rPr/>
              <a:t>Lina Okafor, Chief Human Resources Officer</a:t>
            </a:r>
          </a:p>
          <a:p>
            <a:pPr>
              <a:defRPr sz="1200">
                <a:solidFill>
                  <a:srgbClr val="6B7280"/>
                </a:solidFill>
                <a:latin typeface="Inter"/>
              </a:defRPr>
            </a:pPr>
            <a:r>
              <a:rPr/>
              <a:t>Executive Committee  •  FY27 Strategy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9D174D"/>
                </a:solidFill>
                <a:latin typeface="Inter"/>
              </a:rPr>
              <a:t>Where we are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602153" cy="1737360"/>
          </a:xfrm>
          <a:prstGeom prst="roundRect">
            <a:avLst/>
          </a:prstGeom>
          <a:solidFill>
            <a:srgbClr val="FDF2F8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9D174D"/>
                </a:solidFill>
                <a:latin typeface="Inter"/>
              </a:rPr>
              <a:t>62,400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Total employees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Inter"/>
              </a:rPr>
              <a:t>+4%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645920"/>
            <a:ext cx="2602153" cy="1737360"/>
          </a:xfrm>
          <a:prstGeom prst="roundRect">
            <a:avLst/>
          </a:prstGeom>
          <a:solidFill>
            <a:srgbClr val="FDF2F8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79393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9D174D"/>
                </a:solidFill>
                <a:latin typeface="Inter"/>
              </a:rPr>
              <a:t>+38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9393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Engagement (eNPS)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9393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Inter"/>
              </a:rPr>
              <a:t>+21%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6" y="1645920"/>
            <a:ext cx="2602153" cy="1737360"/>
          </a:xfrm>
          <a:prstGeom prst="roundRect">
            <a:avLst/>
          </a:prstGeom>
          <a:solidFill>
            <a:srgbClr val="FDF2F8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0146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9D174D"/>
                </a:solidFill>
                <a:latin typeface="Inter"/>
              </a:rPr>
              <a:t>8.6%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6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Voluntary attrition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6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Inter"/>
              </a:rPr>
              <a:t>−27%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0899" y="1645920"/>
            <a:ext cx="2602153" cy="1737360"/>
          </a:xfrm>
          <a:prstGeom prst="roundRect">
            <a:avLst/>
          </a:prstGeom>
          <a:solidFill>
            <a:srgbClr val="FDF2F8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40899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9D174D"/>
                </a:solidFill>
                <a:latin typeface="Inter"/>
              </a:rPr>
              <a:t>23%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0899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Internal mobility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0899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Inter"/>
              </a:rPr>
              <a:t>+31%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Talent &amp; Workforce Strategy  |  Executive Committee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Inter"/>
              </a:defRPr>
            </a:pPr>
            <a:r>
              <a:rPr/>
              <a:t>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F2937"/>
                </a:solidFill>
              </a:defRPr>
            </a:pPr>
            <a:r>
              <a:rPr sz="3200" b="1" i="0">
                <a:latin typeface="Inter"/>
              </a:rPr>
              <a:t>eNPS up 21 points; attrition down to 8.6%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Talent &amp; Workforce Strategy  |  Executive Committee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Inter"/>
              </a:defRPr>
            </a:pPr>
            <a:r>
              <a:rPr/>
              <a:t>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F2937"/>
                </a:solidFill>
              </a:defRPr>
            </a:pPr>
            <a:r>
              <a:rPr sz="3200" b="1" i="0">
                <a:latin typeface="Inter"/>
              </a:rPr>
              <a:t>Movement at every level — and our gaps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1554480"/>
            <a:ext cx="3108960" cy="4572000"/>
          </a:xfrm>
          <a:prstGeom prst="roundRect">
            <a:avLst/>
          </a:prstGeom>
          <a:solidFill>
            <a:srgbClr val="FDF2F8"/>
          </a:solidFill>
          <a:ln>
            <a:noFill/>
          </a:ln>
          <a:effectLst>
            <a:outerShdw blurRad="228600" dist="50800" dir="5400000">
              <a:srgbClr val="1F293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1800" b="1">
                <a:solidFill>
                  <a:srgbClr val="9D174D"/>
                </a:solidFill>
                <a:latin typeface="Inter"/>
              </a:defRPr>
            </a:pPr>
            <a:r>
              <a:rPr/>
              <a:t>Where we still need work</a:t>
            </a:r>
          </a:p>
          <a:p>
            <a:pPr>
              <a:spcBef>
                <a:spcPts val="1000"/>
              </a:spcBef>
              <a:defRPr sz="1300" b="1">
                <a:solidFill>
                  <a:srgbClr val="1F2937"/>
                </a:solidFill>
              </a:defRPr>
            </a:pPr>
            <a:r>
              <a:rPr/>
              <a:t>VP+ pipeline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8 pp gap to FY29 target — sponsor program needed.</a:t>
            </a:r>
          </a:p>
          <a:p>
            <a:pPr>
              <a:spcBef>
                <a:spcPts val="1000"/>
              </a:spcBef>
              <a:defRPr sz="1300" b="1">
                <a:solidFill>
                  <a:srgbClr val="1F2937"/>
                </a:solidFill>
              </a:defRPr>
            </a:pPr>
            <a:r>
              <a:rPr/>
              <a:t>Geographic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EMEA leadership representation lags US by 9 pp.</a:t>
            </a:r>
          </a:p>
          <a:p>
            <a:pPr>
              <a:spcBef>
                <a:spcPts val="1000"/>
              </a:spcBef>
              <a:defRPr sz="1300" b="1">
                <a:solidFill>
                  <a:srgbClr val="1F2937"/>
                </a:solidFill>
              </a:defRPr>
            </a:pPr>
            <a:r>
              <a:rPr/>
              <a:t>STEM technical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23% women in engineering — apprenticeship pilot to scale.</a:t>
            </a:r>
          </a:p>
          <a:p>
            <a:pPr>
              <a:spcBef>
                <a:spcPts val="1000"/>
              </a:spcBef>
              <a:defRPr sz="1300" b="1">
                <a:solidFill>
                  <a:srgbClr val="1F2937"/>
                </a:solidFill>
              </a:defRPr>
            </a:pPr>
            <a:r>
              <a:rPr/>
              <a:t>Disability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Self-ID at 4.1%; investing in psychological safety.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Talent &amp; Workforce Strategy  |  Executive Committee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Inter"/>
              </a:defRPr>
            </a:pPr>
            <a:r>
              <a:rPr/>
              <a:t>PAY EQUITY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F2937"/>
                </a:solidFill>
              </a:defRPr>
            </a:pPr>
            <a:r>
              <a:rPr sz="3200" b="1" i="0">
                <a:latin typeface="Inter"/>
              </a:rPr>
              <a:t>Adjusted gender pay gap below 1% across all geos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468880"/>
                <a:gridCol w="2468880"/>
                <a:gridCol w="1828800"/>
                <a:gridCol w="173736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9D17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Unadjusted gap</a:t>
                      </a:r>
                    </a:p>
                  </a:txBody>
                  <a:tcPr anchor="ctr">
                    <a:solidFill>
                      <a:srgbClr val="9D17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Adjusted gap</a:t>
                      </a:r>
                    </a:p>
                  </a:txBody>
                  <a:tcPr anchor="ctr">
                    <a:solidFill>
                      <a:srgbClr val="9D17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Audit firm</a:t>
                      </a:r>
                    </a:p>
                  </a:txBody>
                  <a:tcPr anchor="ctr">
                    <a:solidFill>
                      <a:srgbClr val="9D17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9D174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North America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8.2%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Mercer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</a:defRPr>
                      </a:pPr>
                      <a:r>
                        <a:t>Compliant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EMEA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11.4%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0.9%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Mercer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</a:defRPr>
                      </a:pPr>
                      <a:r>
                        <a:t>Compliant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APAC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9.8%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0.4%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Aon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</a:defRPr>
                      </a:pPr>
                      <a:r>
                        <a:t>Compliant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LATAM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12.1%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1.2%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Aon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</a:defRPr>
                      </a:pPr>
                      <a:r>
                        <a:t>Action plan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Network-wide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9.6%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0.7%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Independent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</a:defRPr>
                      </a:pPr>
                      <a:r>
                        <a:t>Compliant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CE7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7280"/>
                </a:solidFill>
              </a:defRPr>
            </a:pPr>
            <a:r>
              <a:rPr/>
              <a:t>Adjusted gap controls for role, level, tenure, location, and performance. Independently audited annually; results published in our ESG report.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Talent &amp; Workforce Strategy  |  Executive Committee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Inter"/>
              </a:defRPr>
            </a:pPr>
            <a:r>
              <a:rPr/>
              <a:t>SKILLS OF 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F2937"/>
                </a:solidFill>
              </a:defRPr>
            </a:pPr>
            <a:r>
              <a:rPr sz="3200" b="1" i="0">
                <a:latin typeface="Inter"/>
              </a:rPr>
              <a:t>Six capabilities every team will need by FY29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F293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54000" bIns="177800"/>
          <a:lstStyle/>
          <a:p>
            <a:pPr>
              <a:defRPr sz="1700" b="1">
                <a:solidFill>
                  <a:srgbClr val="1F2937"/>
                </a:solidFill>
                <a:latin typeface="Inter"/>
              </a:defRPr>
            </a:pPr>
            <a:r>
              <a:rPr/>
              <a:t>AI fluency</a:t>
            </a:r>
          </a:p>
          <a:p>
            <a:pPr>
              <a:spcBef>
                <a:spcPts val="600"/>
              </a:spcBef>
              <a:defRPr sz="1100">
                <a:solidFill>
                  <a:srgbClr val="6B7280"/>
                </a:solidFill>
              </a:defRPr>
            </a:pPr>
            <a:r>
              <a:rPr/>
              <a:t>Every employee uses AI safely in their daily work; technical builds on top of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703320" cy="109728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F293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54000" bIns="177800"/>
          <a:lstStyle/>
          <a:p>
            <a:pPr>
              <a:defRPr sz="1700" b="1">
                <a:solidFill>
                  <a:srgbClr val="1F2937"/>
                </a:solidFill>
                <a:latin typeface="Inter"/>
              </a:defRPr>
            </a:pPr>
            <a:r>
              <a:rPr/>
              <a:t>Data literacy</a:t>
            </a:r>
          </a:p>
          <a:p>
            <a:pPr>
              <a:spcBef>
                <a:spcPts val="600"/>
              </a:spcBef>
              <a:defRPr sz="1100">
                <a:solidFill>
                  <a:srgbClr val="6B7280"/>
                </a:solidFill>
              </a:defRPr>
            </a:pPr>
            <a:r>
              <a:rPr/>
              <a:t>Decision-making rooted in evidence — every manager passes our data baseline.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70332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F293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54000" bIns="177800"/>
          <a:lstStyle/>
          <a:p>
            <a:pPr>
              <a:defRPr sz="1700" b="1">
                <a:solidFill>
                  <a:srgbClr val="1F2937"/>
                </a:solidFill>
                <a:latin typeface="Inter"/>
              </a:defRPr>
            </a:pPr>
            <a:r>
              <a:rPr/>
              <a:t>Customer-craft</a:t>
            </a:r>
          </a:p>
          <a:p>
            <a:pPr>
              <a:spcBef>
                <a:spcPts val="600"/>
              </a:spcBef>
              <a:defRPr sz="1100">
                <a:solidFill>
                  <a:srgbClr val="6B7280"/>
                </a:solidFill>
              </a:defRPr>
            </a:pPr>
            <a:r>
              <a:rPr/>
              <a:t>We hire and promote on demonstrated empathy and craftsmanship, not credentials.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3703320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406908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F293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54000" bIns="177800"/>
          <a:lstStyle/>
          <a:p>
            <a:pPr>
              <a:defRPr sz="1700" b="1">
                <a:solidFill>
                  <a:srgbClr val="1F2937"/>
                </a:solidFill>
                <a:latin typeface="Inter"/>
              </a:defRPr>
            </a:pPr>
            <a:r>
              <a:rPr/>
              <a:t>Systems thinking</a:t>
            </a:r>
          </a:p>
          <a:p>
            <a:pPr>
              <a:spcBef>
                <a:spcPts val="600"/>
              </a:spcBef>
              <a:defRPr sz="1100">
                <a:solidFill>
                  <a:srgbClr val="6B7280"/>
                </a:solidFill>
              </a:defRPr>
            </a:pPr>
            <a:r>
              <a:rPr/>
              <a:t>Engineers and operators trained to see — and improve — entire flows, not steps.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69080"/>
            <a:ext cx="370332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406908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F293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54000" bIns="177800"/>
          <a:lstStyle/>
          <a:p>
            <a:pPr>
              <a:defRPr sz="1700" b="1">
                <a:solidFill>
                  <a:srgbClr val="1F2937"/>
                </a:solidFill>
                <a:latin typeface="Inter"/>
              </a:defRPr>
            </a:pPr>
            <a:r>
              <a:rPr/>
              <a:t>Sustainability</a:t>
            </a:r>
          </a:p>
          <a:p>
            <a:pPr>
              <a:spcBef>
                <a:spcPts val="600"/>
              </a:spcBef>
              <a:defRPr sz="1100">
                <a:solidFill>
                  <a:srgbClr val="6B7280"/>
                </a:solidFill>
              </a:defRPr>
            </a:pPr>
            <a:r>
              <a:rPr/>
              <a:t>Embedded in every product and process decision, not a side-bar function.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4069080"/>
            <a:ext cx="370332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406908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F293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54000" bIns="177800"/>
          <a:lstStyle/>
          <a:p>
            <a:pPr>
              <a:defRPr sz="1700" b="1">
                <a:solidFill>
                  <a:srgbClr val="1F2937"/>
                </a:solidFill>
                <a:latin typeface="Inter"/>
              </a:defRPr>
            </a:pPr>
            <a:r>
              <a:rPr/>
              <a:t>Inclusive leadership</a:t>
            </a:r>
          </a:p>
          <a:p>
            <a:pPr>
              <a:spcBef>
                <a:spcPts val="600"/>
              </a:spcBef>
              <a:defRPr sz="1100">
                <a:solidFill>
                  <a:srgbClr val="6B7280"/>
                </a:solidFill>
              </a:defRPr>
            </a:pPr>
            <a:r>
              <a:rPr/>
              <a:t>Every people-leader certified in inclusive practices by FY28 H1.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069080"/>
            <a:ext cx="3703320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Talent &amp; Workforce Strategy  |  Executive Committee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Inter"/>
              </a:defRPr>
            </a:pPr>
            <a:r>
              <a:rPr/>
              <a:t>LEADERSHIP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F2937"/>
                </a:solidFill>
              </a:defRPr>
            </a:pPr>
            <a:r>
              <a:rPr sz="3200" b="1" i="0">
                <a:latin typeface="Inter"/>
              </a:rPr>
              <a:t>Bench depth — ready-now and ready-soon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6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988819"/>
                <a:gridCol w="1988819"/>
                <a:gridCol w="1988819"/>
                <a:gridCol w="1988819"/>
              </a:tblGrid>
              <a:tr h="658368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9D17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Ready-now</a:t>
                      </a:r>
                    </a:p>
                  </a:txBody>
                  <a:tcPr anchor="ctr">
                    <a:solidFill>
                      <a:srgbClr val="9D17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Ready-soon</a:t>
                      </a:r>
                    </a:p>
                  </a:txBody>
                  <a:tcPr anchor="ctr">
                    <a:solidFill>
                      <a:srgbClr val="9D17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Risk roles</a:t>
                      </a:r>
                    </a:p>
                  </a:txBody>
                  <a:tcPr anchor="ctr">
                    <a:solidFill>
                      <a:srgbClr val="9D17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Bench ratio</a:t>
                      </a:r>
                    </a:p>
                  </a:txBody>
                  <a:tcPr anchor="ctr">
                    <a:solidFill>
                      <a:srgbClr val="9D174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CEO direct reports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 of 12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 of 12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VP / SVP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32 of 88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61 of 88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1.06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Director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94 of 312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188 of 312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Senior Manager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210 of 740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380 of 740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D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F2937"/>
                </a:solidFill>
              </a:defRPr>
            </a:pPr>
            <a:r>
              <a:rPr sz="1500" b="0" i="0">
                <a:latin typeface="Inter"/>
              </a:rPr>
              <a:t>CEO direct-report bench remains the fragile tier. We are running an external slate alongside three internal candidates for two roles, and have committed sponsors for the eight high-potential VPs.</a:t>
            </a:r>
            <a:endParaRPr sz="1500" b="0" i="0">
              <a:latin typeface="Inter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Talent &amp; Workforce Strategy  |  Executive Committee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Inter"/>
              </a:defRPr>
            </a:pPr>
            <a:r>
              <a:rPr/>
              <a:t>WELLBEING &amp; BELONGING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F2937"/>
                </a:solidFill>
              </a:defRPr>
            </a:pPr>
            <a:r>
              <a:rPr sz="3200" b="1" i="0">
                <a:latin typeface="Inter"/>
              </a:rPr>
              <a:t>Where the work-experience numbers stand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F293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54000"/>
          <a:lstStyle/>
          <a:p>
            <a:pPr>
              <a:defRPr sz="4000" b="1">
                <a:solidFill>
                  <a:srgbClr val="9D174D"/>
                </a:solidFill>
                <a:latin typeface="Inter"/>
              </a:defRPr>
            </a:pPr>
            <a:r>
              <a:rPr/>
              <a:t>87%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</a:defRPr>
            </a:pPr>
            <a:r>
              <a:rPr/>
              <a:t>agree manager cares about wellbeing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F293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54000"/>
          <a:lstStyle/>
          <a:p>
            <a:pPr>
              <a:defRPr sz="4000" b="1">
                <a:solidFill>
                  <a:srgbClr val="F59E0B"/>
                </a:solidFill>
                <a:latin typeface="Inter"/>
              </a:defRPr>
            </a:pPr>
            <a:r>
              <a:rPr/>
              <a:t>82%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</a:defRPr>
            </a:pPr>
            <a:r>
              <a:rPr/>
              <a:t>agree they belong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F293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54000"/>
          <a:lstStyle/>
          <a:p>
            <a:pPr>
              <a:defRPr sz="4000" b="1">
                <a:solidFill>
                  <a:srgbClr val="0EA5E9"/>
                </a:solidFill>
                <a:latin typeface="Inter"/>
              </a:defRPr>
            </a:pPr>
            <a:r>
              <a:rPr/>
              <a:t>4.6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</a:defRPr>
            </a:pPr>
            <a:r>
              <a:rPr/>
              <a:t>Glassdoor (out of 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6908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F293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54000"/>
          <a:lstStyle/>
          <a:p>
            <a:pPr>
              <a:defRPr sz="4000" b="1">
                <a:solidFill>
                  <a:srgbClr val="16A34A"/>
                </a:solidFill>
                <a:latin typeface="Inter"/>
              </a:defRPr>
            </a:pPr>
            <a:r>
              <a:rPr/>
              <a:t>63%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</a:defRPr>
            </a:pPr>
            <a:r>
              <a:rPr/>
              <a:t>use mental-health benefits annually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6908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F293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54000"/>
          <a:lstStyle/>
          <a:p>
            <a:pPr>
              <a:defRPr sz="4000" b="1">
                <a:solidFill>
                  <a:srgbClr val="7C3AED"/>
                </a:solidFill>
                <a:latin typeface="Inter"/>
              </a:defRPr>
            </a:pPr>
            <a:r>
              <a:rPr/>
              <a:t>$48M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</a:defRPr>
            </a:pPr>
            <a:r>
              <a:rPr/>
              <a:t>annual wellbeing investment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06908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F293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54000"/>
          <a:lstStyle/>
          <a:p>
            <a:pPr>
              <a:defRPr sz="4000" b="1">
                <a:solidFill>
                  <a:srgbClr val="DC2626"/>
                </a:solidFill>
                <a:latin typeface="Inter"/>
              </a:defRPr>
            </a:pPr>
            <a:r>
              <a:rPr/>
              <a:t>12 wk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</a:defRPr>
            </a:pPr>
            <a:r>
              <a:rPr/>
              <a:t>fully paid family leave (all geos)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Talent &amp; Workforce Strategy  |  Executive Committee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9713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1">
                <a:solidFill>
                  <a:srgbClr val="9D174D"/>
                </a:solidFill>
                <a:latin typeface="Inter"/>
              </a:rPr>
              <a:t>“People don't leave companies, they leave bosses. Our number-one investment in FY27 is in the manager tier — because that's where engagement is made or lost.”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120640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— Lina Okafor, CHRO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Talent &amp; Workforce Strategy  |  Executive Committee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9D174D"/>
              </a:gs>
              <a:gs pos="100000">
                <a:srgbClr val="1F293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6000" b="1" i="0">
                <a:latin typeface="Inter"/>
              </a:rPr>
              <a:t>Be the place careers are made.</a:t>
            </a:r>
            <a:endParaRPr sz="6000" b="1" i="0"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F59E0B"/>
                </a:solidFill>
              </a:defRPr>
            </a:pPr>
            <a:r>
              <a:rPr sz="2200" b="0" i="0">
                <a:latin typeface="Inter"/>
              </a:rPr>
              <a:t>Three asks. Three commitments. Three years.</a:t>
            </a:r>
            <a:endParaRPr sz="2200" b="0" i="0">
              <a:latin typeface="Int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41848" y="4114800"/>
            <a:ext cx="914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