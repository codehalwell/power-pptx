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FY27 spend share by audience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Spend share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cat>
            <c:strRef>
              <c:f>Sheet1!$A$2:$A$7</c:f>
              <c:strCache>
                <c:ptCount val="6"/>
                <c:pt idx="0">
                  <c:v>Enterprise CIO/CTO</c:v>
                </c:pt>
                <c:pt idx="1">
                  <c:v>Enterprise CFO</c:v>
                </c:pt>
                <c:pt idx="2">
                  <c:v>Mid-market COO</c:v>
                </c:pt>
                <c:pt idx="3">
                  <c:v>VP Engineering</c:v>
                </c:pt>
                <c:pt idx="4">
                  <c:v>VP Operations</c:v>
                </c:pt>
                <c:pt idx="5">
                  <c:v>Practitioner / dev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22</c:v>
                </c:pt>
                <c:pt idx="2">
                  <c:v>16</c:v>
                </c:pt>
                <c:pt idx="3">
                  <c:v>14</c:v>
                </c:pt>
                <c:pt idx="4">
                  <c:v>12</c:v>
                </c:pt>
                <c:pt idx="5">
                  <c:v>8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spend by channel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FY27 budget ($M)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dPt>
            <c:idx val="6"/>
            <c:spPr>
              <a:solidFill>
                <a:srgbClr val="DB2777"/>
              </a:solidFill>
            </c:spPr>
          </c:dPt>
          <c:cat>
            <c:strRef>
              <c:f>Sheet1!$A$2:$A$8</c:f>
              <c:strCache>
                <c:ptCount val="7"/>
                <c:pt idx="0">
                  <c:v>Connected TV / video</c:v>
                </c:pt>
                <c:pt idx="1">
                  <c:v>Search &amp; social</c:v>
                </c:pt>
                <c:pt idx="2">
                  <c:v>Field &amp; events</c:v>
                </c:pt>
                <c:pt idx="3">
                  <c:v>Content &amp; PR</c:v>
                </c:pt>
                <c:pt idx="4">
                  <c:v>Influencer / community</c:v>
                </c:pt>
                <c:pt idx="5">
                  <c:v>Partner co-marketing</c:v>
                </c:pt>
                <c:pt idx="6">
                  <c:v>Out-of-home &amp; print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8</c:v>
                </c:pt>
                <c:pt idx="6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quarterly forecast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 ($M)</c:v>
                </c:pt>
              </c:strCache>
            </c:strRef>
          </c:tx>
          <c:spPr>
            <a:solidFill>
              <a:srgbClr val="DB277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152</c:v>
                </c:pt>
                <c:pt idx="2">
                  <c:v>168</c:v>
                </c:pt>
                <c:pt idx="3">
                  <c:v>200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Marketing-sourced revenue ($M)</c:v>
                </c:pt>
              </c:strCache>
            </c:strRef>
          </c:tx>
          <c:spPr>
            <a:solidFill>
              <a:srgbClr val="06B6D4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</c:v>
                </c:pt>
                <c:pt idx="1">
                  <c:v>68</c:v>
                </c:pt>
                <c:pt idx="2">
                  <c:v>76</c:v>
                </c:pt>
                <c:pt idx="3">
                  <c:v>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ROI multiple (×10)</c:v>
                </c:pt>
              </c:strCache>
            </c:strRef>
          </c:tx>
          <c:spPr>
            <a:solidFill>
              <a:srgbClr val="F59E0B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</c:v>
                </c:pt>
                <c:pt idx="1">
                  <c:v>46</c:v>
                </c:pt>
                <c:pt idx="2">
                  <c:v>56</c:v>
                </c:pt>
                <c:pt idx="3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Inter"/>
              </a:defRPr>
            </a:pPr>
            <a:r>
              <a:rPr/>
              <a:t>FY27 INTEGRATED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Made for the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movers.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A year-long brand-and-demand campaign designed to shift consideration with operators and CFOs in our five highest-priority verticals.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Marielle Nguyen, Chief Marketing Officer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Executive Committee  •  Budget Approval  •  May 2026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DB2777"/>
                </a:solidFill>
                <a:latin typeface="Inter"/>
              </a:rPr>
              <a:t>The brief — what we're investing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+8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Aided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+20%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$640M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Pipeline contribution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+32%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5.4×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Marketing ROI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+18%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11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CAC 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AUDIENCE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Who we're talking to — and in what proportion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554480"/>
            <a:ext cx="429768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Segmentation logic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Investment follows revenue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73% of FY27 pipeline sits in the top three personas.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Frequency over reach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Mid-market COO is highest-LTV but smallest universe — go heavy.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Always-on practitioner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Developer audience runs continuously to fuel bottoms-up motion.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Buying group, not buyer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Activate three roles per account in parallel — no single-threaded plays.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>
                    <a:alpha val="85000"/>
                  </a:srgbClr>
                </a:solidFill>
              </a:defRPr>
            </a:pPr>
            <a:r>
              <a:rPr/>
              <a:t>THE 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5800" b="1" i="0">
                <a:latin typeface="Inter"/>
              </a:rPr>
              <a:t>We don't sell software.</a:t>
            </a:r>
            <a:endParaRPr sz="5800" b="1" i="0">
              <a:latin typeface="Inter"/>
            </a:endParaRPr>
          </a:p>
          <a:p>
            <a:r>
              <a:rPr sz="5800" b="1" i="0">
                <a:latin typeface="Inter"/>
              </a:rPr>
              <a:t>We back the people who move things.</a:t>
            </a:r>
            <a:endParaRPr sz="5800" b="1" i="0"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>
                    <a:alpha val="92000"/>
                  </a:srgbClr>
                </a:solidFill>
              </a:defRPr>
            </a:pPr>
            <a:r>
              <a:rPr sz="2000" b="0" i="0">
                <a:latin typeface="Inter"/>
              </a:rPr>
              <a:t>Our customers move shipments, decisions, money, and people. Our brand promise: every product we ship saves them an hour, a dollar, or a difficult conversation.</a:t>
            </a:r>
            <a:endParaRPr sz="2000" b="0" i="0">
              <a:latin typeface="Inter"/>
            </a:endParaRPr>
          </a:p>
        </p:txBody>
      </p:sp>
    </p:spTree>
  </p:cSld>
  <p:clrMapOvr>
    <a:masterClrMapping/>
  </p:clrMapOvr>
  <p:transition xmlns:ns0="http://schemas.microsoft.com/office/powerpoint/2010/main" ns0:dur="1200">
    <ns0:morp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CHANNEL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Where the $84M goes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What's different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CTV up 80%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Reach our CFO + COO targets where they are.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Field rebalanced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Two flagship events; tighter, more sponsored.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Influencer 2×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Practitioner trust &gt; banner ads. Always-on creator network.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OOH targeted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Five business-district takeovers around fly-in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FUNNEL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Three stages, always on, measured weekly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Awareness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CTV, OOH, audio, sponsored content. Brand-led storytelling.</a:t>
            </a:r>
          </a:p>
          <a:p>
            <a:pPr>
              <a:spcBef>
                <a:spcPts val="1400"/>
              </a:spcBef>
              <a:defRPr sz="1000" b="1">
                <a:solidFill>
                  <a:srgbClr val="DB2777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Aided awareness +8 pts; share-of-voice 24%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703320" cy="14630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Consideration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Webinars, analyst-led research, customer panels. Mid-funnel POV.</a:t>
            </a:r>
          </a:p>
          <a:p>
            <a:pPr>
              <a:spcBef>
                <a:spcPts val="1400"/>
              </a:spcBef>
              <a:defRPr sz="1000" b="1">
                <a:solidFill>
                  <a:srgbClr val="06B6D4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Engaged accounts 8,400/qtr; MQL→SQL 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3703320" cy="1463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Conversion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ABM plays, demos, partner co-marketing. Sales activation.</a:t>
            </a:r>
          </a:p>
          <a:p>
            <a:pPr>
              <a:spcBef>
                <a:spcPts val="1400"/>
              </a:spcBef>
              <a:defRPr sz="1000" b="1">
                <a:solidFill>
                  <a:srgbClr val="F59E0B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Pipeline $640M; close-won 31%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91640"/>
            <a:ext cx="370332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Five tentpoles, four always-on tracks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77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411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Brand launch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40279"/>
            <a:ext cx="2080260" cy="411480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3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Atlas event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5140" y="2880359"/>
            <a:ext cx="1211580" cy="41148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Holiday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1180" y="3520439"/>
            <a:ext cx="186309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Search/social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416052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7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Practitioner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800599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ABM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544068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B7280"/>
                </a:solidFill>
              </a:defRPr>
            </a:pPr>
            <a:r>
              <a:rPr/>
              <a:t>Tentpoles are 6-week windows of concentrated spend. Always-on tracks deliver baseline reach and frequency through the year.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Pipeline contribution and ROI by quarter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I need from this committee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Approve $84M FY27 budget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+9% YoY. Largest reallocation is from print to CTV and creator network.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Endorse the brand platform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'Made for the movers' — public launch May 22 at Atlas conference.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Co-anchor the launch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CEO keynote at Atlas; CFO interview in Forbes Q3.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Vertical SVPs partner on tentpoles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Joint plans for Q2 Atlas, Q3 Industrial summit, Q4 demand wave.</a:t>
            </a:r>
          </a:p>
        </p:txBody>
      </p:sp>
      <p:sp>
        <p:nvSpPr>
          <p:cNvPr id="12" name="Oval 11"/>
          <p:cNvSpPr/>
          <p:nvPr/>
        </p:nvSpPr>
        <p:spPr>
          <a:xfrm>
            <a:off x="644652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Movers, this is for you.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06B6D4"/>
                </a:solidFill>
              </a:defRPr>
            </a:pPr>
            <a:r>
              <a:rPr sz="2200" b="0" i="0">
                <a:latin typeface="Inter"/>
              </a:rPr>
              <a:t>Approve the $84M investment for FY27. Let's go win the consideration set.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