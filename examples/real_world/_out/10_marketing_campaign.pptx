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FY27 spend share by audience (%)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 share</c:v>
                </c:pt>
              </c:strCache>
            </c:strRef>
          </c:tx>
          <c:dPt>
            <c:idx val="0"/>
            <c:spPr>
              <a:solidFill>
                <a:srgbClr val="DB2777"/>
              </a:solidFill>
            </c:spPr>
          </c:dPt>
          <c:dPt>
            <c:idx val="1"/>
            <c:spPr>
              <a:solidFill>
                <a:srgbClr val="06B6D4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7C3AED"/>
              </a:solidFill>
            </c:spPr>
          </c:dPt>
          <c:dPt>
            <c:idx val="4"/>
            <c:spPr>
              <a:solidFill>
                <a:srgbClr val="10B981"/>
              </a:solidFill>
            </c:spPr>
          </c:dPt>
          <c:dPt>
            <c:idx val="5"/>
            <c:spPr>
              <a:solidFill>
                <a:srgbClr val="3B82F6"/>
              </a:solidFill>
            </c:spPr>
          </c:dPt>
          <c:cat>
            <c:strRef>
              <c:f>Sheet1!$A$2:$A$7</c:f>
              <c:strCache>
                <c:ptCount val="6"/>
                <c:pt idx="0">
                  <c:v>Enterprise CIO/CTO</c:v>
                </c:pt>
                <c:pt idx="1">
                  <c:v>Enterprise CFO</c:v>
                </c:pt>
                <c:pt idx="2">
                  <c:v>Mid-market COO</c:v>
                </c:pt>
                <c:pt idx="3">
                  <c:v>VP Engineering</c:v>
                </c:pt>
                <c:pt idx="4">
                  <c:v>VP Operations</c:v>
                </c:pt>
                <c:pt idx="5">
                  <c:v>Practitioner / dev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16</c:v>
                </c:pt>
                <c:pt idx="3">
                  <c:v>14</c:v>
                </c:pt>
                <c:pt idx="4">
                  <c:v>12</c:v>
                </c:pt>
                <c:pt idx="5">
                  <c:v>8</c:v>
                </c:pt>
              </c:numCache>
            </c:numRef>
          </c:val>
        </c:ser>
      </c:pieChart>
    </c:plotArea>
    <c:legend>
      <c:legendPos val="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FY27 spend by channel ($M)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FY27 budget ($M)</c:v>
                </c:pt>
              </c:strCache>
            </c:strRef>
          </c:tx>
          <c:dPt>
            <c:idx val="0"/>
            <c:spPr>
              <a:solidFill>
                <a:srgbClr val="DB2777"/>
              </a:solidFill>
            </c:spPr>
          </c:dPt>
          <c:dPt>
            <c:idx val="1"/>
            <c:spPr>
              <a:solidFill>
                <a:srgbClr val="06B6D4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7C3AED"/>
              </a:solidFill>
            </c:spPr>
          </c:dPt>
          <c:dPt>
            <c:idx val="4"/>
            <c:spPr>
              <a:solidFill>
                <a:srgbClr val="10B981"/>
              </a:solidFill>
            </c:spPr>
          </c:dPt>
          <c:dPt>
            <c:idx val="5"/>
            <c:spPr>
              <a:solidFill>
                <a:srgbClr val="3B82F6"/>
              </a:solidFill>
            </c:spPr>
          </c:dPt>
          <c:dPt>
            <c:idx val="6"/>
            <c:spPr>
              <a:solidFill>
                <a:srgbClr val="DB2777"/>
              </a:solidFill>
            </c:spPr>
          </c:dPt>
          <c:cat>
            <c:strRef>
              <c:f>Sheet1!$A$2:$A$8</c:f>
              <c:strCache>
                <c:ptCount val="7"/>
                <c:pt idx="0">
                  <c:v>Connected TV / video</c:v>
                </c:pt>
                <c:pt idx="1">
                  <c:v>Search &amp; social</c:v>
                </c:pt>
                <c:pt idx="2">
                  <c:v>Field &amp; events</c:v>
                </c:pt>
                <c:pt idx="3">
                  <c:v>Content &amp; PR</c:v>
                </c:pt>
                <c:pt idx="4">
                  <c:v>Influencer / community</c:v>
                </c:pt>
                <c:pt idx="5">
                  <c:v>Partner co-marketing</c:v>
                </c:pt>
                <c:pt idx="6">
                  <c:v>Out-of-home &amp; print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</c:v>
                </c:pt>
                <c:pt idx="1">
                  <c:v>16</c:v>
                </c:pt>
                <c:pt idx="2">
                  <c:v>14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  <c:pt idx="6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FY27 quarterly forecast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($M)</c:v>
                </c:pt>
              </c:strCache>
            </c:strRef>
          </c:tx>
          <c:spPr>
            <a:solidFill>
              <a:srgbClr val="DB2777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152</c:v>
                </c:pt>
                <c:pt idx="2">
                  <c:v>168</c:v>
                </c:pt>
                <c:pt idx="3">
                  <c:v>200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Marketing-sourced revenue ($M)</c:v>
                </c:pt>
              </c:strCache>
            </c:strRef>
          </c:tx>
          <c:spPr>
            <a:solidFill>
              <a:srgbClr val="06B6D4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</c:v>
                </c:pt>
                <c:pt idx="1">
                  <c:v>68</c:v>
                </c:pt>
                <c:pt idx="2">
                  <c:v>76</c:v>
                </c:pt>
                <c:pt idx="3">
                  <c:v>92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ROI multiple (×10)</c:v>
                </c:pt>
              </c:strCache>
            </c:strRef>
          </c:tx>
          <c:spPr>
            <a:solidFill>
              <a:srgbClr val="F59E0B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38</c:v>
                </c:pt>
                <c:pt idx="1">
                  <c:v>46</c:v>
                </c:pt>
                <c:pt idx="2">
                  <c:v>56</c:v>
                </c:pt>
                <c:pt idx="3">
                  <c:v>60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gradFill rotWithShape="1">
            <a:gsLst>
              <a:gs pos="0">
                <a:srgbClr val="DB2777"/>
              </a:gs>
              <a:gs pos="100000">
                <a:srgbClr val="0F172A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Inter"/>
              </a:defRPr>
            </a:pPr>
            <a:r>
              <a:rPr/>
              <a:t>FY27 INTEGRATED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29768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4400" b="1" i="0">
                <a:latin typeface="Inter"/>
              </a:rPr>
              <a:t>Made for the</a:t>
            </a:r>
            <a:endParaRPr sz="4400" b="1" i="0">
              <a:latin typeface="Inter"/>
            </a:endParaRPr>
          </a:p>
          <a:p>
            <a:r>
              <a:rPr sz="4400" b="1" i="0">
                <a:latin typeface="Inter"/>
              </a:rPr>
              <a:t>movers.</a:t>
            </a:r>
            <a:endParaRPr sz="4400" b="1" i="0"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377440"/>
            <a:ext cx="621792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2800" b="0" i="0">
                <a:latin typeface="Inter"/>
              </a:rPr>
              <a:t>A year-long brand-and-demand campaign designed to shift consideration with operators and CFOs in our five highest-priority verticals.</a:t>
            </a:r>
            <a:endParaRPr sz="2800" b="0" i="0"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53035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rPr/>
              <a:t>Marielle Nguyen, Chief Marketing Officer</a:t>
            </a:r>
          </a:p>
          <a:p>
            <a:pPr>
              <a:defRPr sz="1200">
                <a:solidFill>
                  <a:srgbClr val="6B7280"/>
                </a:solidFill>
                <a:latin typeface="Inter"/>
              </a:defRPr>
            </a:pPr>
            <a:r>
              <a:rPr/>
              <a:t>Executive Committee  •  Budget Approval  •  May 2026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DB2777"/>
                </a:solidFill>
                <a:latin typeface="Inter"/>
              </a:rPr>
              <a:t>The brief — what we're investing for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02153" cy="173736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DB2777"/>
                </a:solidFill>
                <a:latin typeface="Inter"/>
              </a:rPr>
              <a:t>+8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Aided brand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Inter"/>
              </a:rPr>
              <a:t>+20%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45920"/>
            <a:ext cx="2602153" cy="173736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79393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DB2777"/>
                </a:solidFill>
                <a:latin typeface="Inter"/>
              </a:rPr>
              <a:t>$640M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9393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Pipeline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9393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Inter"/>
              </a:rPr>
              <a:t>+32%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1645920"/>
            <a:ext cx="2602153" cy="173736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0146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DB2777"/>
                </a:solidFill>
                <a:latin typeface="Inter"/>
              </a:rPr>
              <a:t>5.4×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6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Marketing ROI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Inter"/>
              </a:rPr>
              <a:t>+18%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0899" y="1645920"/>
            <a:ext cx="2602153" cy="173736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40899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DB2777"/>
                </a:solidFill>
                <a:latin typeface="Inter"/>
              </a:rPr>
              <a:t>11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899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CAC payback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899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Inter"/>
              </a:rPr>
              <a:t>−12%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Integrated Campaign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2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rPr/>
              <a:t>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Who we're talking to — and in what proportion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5836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554480"/>
            <a:ext cx="4297680" cy="4572000"/>
          </a:xfrm>
          <a:prstGeom prst="roundRect">
            <a:avLst/>
          </a:prstGeom>
          <a:solidFill>
            <a:srgbClr val="FFF1F2"/>
          </a:solidFill>
          <a:ln>
            <a:noFill/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>
              <a:defRPr sz="1800" b="1">
                <a:solidFill>
                  <a:srgbClr val="DB2777"/>
                </a:solidFill>
                <a:latin typeface="Inter"/>
              </a:defRPr>
            </a:pPr>
            <a:r>
              <a:rPr/>
              <a:t>Segmentation logic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Investment follows revenue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73% of FY27 pipeline sits in the top three personas.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Frequency over reach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Mid-market COO is highest-LTV but smallest universe — go heavy.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Always-on practitioner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Developer audience runs continuously to fuel bottoms-up motion.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Buying group, not buyer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Activate three roles per account in parallel — no single-threaded plays.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Integrated Campaign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3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2777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>
                    <a:alpha val="85000"/>
                  </a:srgbClr>
                </a:solidFill>
              </a:defRPr>
            </a:pPr>
            <a:r>
              <a:rPr/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5800" b="1" i="0">
                <a:latin typeface="Inter"/>
              </a:rPr>
              <a:t>We don't sell software.</a:t>
            </a:r>
            <a:endParaRPr sz="5800" b="1" i="0">
              <a:latin typeface="Inter"/>
            </a:endParaRPr>
          </a:p>
          <a:p>
            <a:r>
              <a:rPr sz="5800" b="1" i="0">
                <a:latin typeface="Inter"/>
              </a:rPr>
              <a:t>We back the people who move things.</a:t>
            </a:r>
            <a:endParaRPr sz="5800" b="1" i="0"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>
                    <a:alpha val="92000"/>
                  </a:srgbClr>
                </a:solidFill>
              </a:defRPr>
            </a:pPr>
            <a:r>
              <a:rPr sz="2000" b="0" i="0">
                <a:latin typeface="Inter"/>
              </a:rPr>
              <a:t>Our customers move shipments, decisions, money, and people. Our brand promise: every product we ship saves them an hour, a dollar, or a difficult conversation.</a:t>
            </a:r>
            <a:endParaRPr sz="2000" b="0" i="0">
              <a:latin typeface="Inter"/>
            </a:endParaRPr>
          </a:p>
        </p:txBody>
      </p:sp>
    </p:spTree>
  </p:cSld>
  <p:clrMapOvr>
    <a:masterClrMapping/>
  </p:clrMapOvr>
  <p:transition xmlns:ns0="http://schemas.microsoft.com/office/powerpoint/2010/main" ns0:dur="400">
    <p:fade/>
  </p:transition>
  <p:timing>
    <p:tnLst>
      <p:par>
        <p:cTn id="1" dur="indefinite" restart="never" nodeType="tmRoot">
          <p:childTnLst>
            <p:par>
              <p:cTn fill="hold" id="2">
                <p:stCondLst>
                  <p:cond delay="indefinite"/>
                </p:stCondLst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fill="hold" id="6">
                <p:stCondLst>
                  <p:cond delay="0"/>
                </p:stCondLst>
                <p:childTnLst>
                  <p:par>
                    <p:cTn id="7" presetID="10" presetClass="entr" presetSubtype="0" fill="hold" grpId="0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rPr/>
              <a:t>CHANNEL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Where the $84M goes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554480"/>
            <a:ext cx="3108960" cy="4572000"/>
          </a:xfrm>
          <a:prstGeom prst="roundRect">
            <a:avLst/>
          </a:prstGeom>
          <a:solidFill>
            <a:srgbClr val="FFF1F2"/>
          </a:solidFill>
          <a:ln>
            <a:noFill/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1800" b="1">
                <a:solidFill>
                  <a:srgbClr val="DB2777"/>
                </a:solidFill>
                <a:latin typeface="Inter"/>
              </a:defRPr>
            </a:pPr>
            <a:r>
              <a:rPr/>
              <a:t>What's different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CTV up 80%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Reach our CFO + COO targets where they are.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Field rebalanced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Two flagship events; tighter, more sponsored.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Influencer 2×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Practitioner trust &gt; banner ads. Always-on creator network.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OOH targeted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Five business-district takeovers around fly-in events.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Integrated Campaign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5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rPr/>
              <a:t>FUNNEL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Three stages, always on, measured weekly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703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55600" bIns="228600"/>
          <a:lstStyle/>
          <a:p>
            <a:pPr>
              <a:defRPr sz="2200" b="1">
                <a:solidFill>
                  <a:srgbClr val="0F172A"/>
                </a:solidFill>
                <a:latin typeface="Inter"/>
              </a:defRPr>
            </a:pPr>
            <a:r>
              <a:rPr/>
              <a:t>Awareness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rPr/>
              <a:t>CTV, OOH, audio, sponsored content. Brand-led storytelling.</a:t>
            </a:r>
          </a:p>
          <a:p>
            <a:pPr>
              <a:spcBef>
                <a:spcPts val="1400"/>
              </a:spcBef>
              <a:defRPr sz="1000" b="1">
                <a:solidFill>
                  <a:srgbClr val="DB2777"/>
                </a:solidFill>
              </a:defRPr>
            </a:pPr>
            <a:r>
              <a:rPr/>
              <a:t>KPIs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Aided awareness +8 pts; share-of-voice 24%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703320" cy="14630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703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55600" bIns="228600"/>
          <a:lstStyle/>
          <a:p>
            <a:pPr>
              <a:defRPr sz="2200" b="1">
                <a:solidFill>
                  <a:srgbClr val="0F172A"/>
                </a:solidFill>
                <a:latin typeface="Inter"/>
              </a:defRPr>
            </a:pPr>
            <a:r>
              <a:rPr/>
              <a:t>Consideration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rPr/>
              <a:t>Webinars, analyst-led research, customer panels. Mid-funnel POV.</a:t>
            </a:r>
          </a:p>
          <a:p>
            <a:pPr>
              <a:spcBef>
                <a:spcPts val="1400"/>
              </a:spcBef>
              <a:defRPr sz="1000" b="1">
                <a:solidFill>
                  <a:srgbClr val="06B6D4"/>
                </a:solidFill>
              </a:defRPr>
            </a:pPr>
            <a:r>
              <a:rPr/>
              <a:t>KPIs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Engaged accounts 8,400/qtr; MQL→SQL 32%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91640"/>
            <a:ext cx="3703320" cy="1463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691640"/>
            <a:ext cx="3703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55600" bIns="228600"/>
          <a:lstStyle/>
          <a:p>
            <a:pPr>
              <a:defRPr sz="2200" b="1">
                <a:solidFill>
                  <a:srgbClr val="0F172A"/>
                </a:solidFill>
                <a:latin typeface="Inter"/>
              </a:defRPr>
            </a:pPr>
            <a:r>
              <a:rPr/>
              <a:t>Conversion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rPr/>
              <a:t>ABM plays, demos, partner co-marketing. Sales activation.</a:t>
            </a:r>
          </a:p>
          <a:p>
            <a:pPr>
              <a:spcBef>
                <a:spcPts val="1400"/>
              </a:spcBef>
              <a:defRPr sz="1000" b="1">
                <a:solidFill>
                  <a:srgbClr val="F59E0B"/>
                </a:solidFill>
              </a:defRPr>
            </a:pPr>
            <a:r>
              <a:rPr/>
              <a:t>KPIs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Pipeline $640M; close-won 31%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91640"/>
            <a:ext cx="3703320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Integrated Campaign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6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rPr/>
              <a:t>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Five tentpoles, four always-on tracks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1645920"/>
            <a:ext cx="21717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rPr/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7780" y="1645920"/>
            <a:ext cx="21717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rPr/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645920"/>
            <a:ext cx="21717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rPr/>
              <a:t>Q3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1180" y="1645920"/>
            <a:ext cx="21717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rPr/>
              <a:t>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Tentpole — Brand launch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240279"/>
            <a:ext cx="2080260" cy="411480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34639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Tentpole — Atlas event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5140" y="2880359"/>
            <a:ext cx="1211580" cy="4114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Tentpole — Holiday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41180" y="3520439"/>
            <a:ext cx="1863090" cy="411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Always-on — Search/social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160520"/>
            <a:ext cx="8595360" cy="4114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54879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Always-on — Practitioner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4800599"/>
            <a:ext cx="8595360" cy="4114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39496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Always-on — ABM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5440680"/>
            <a:ext cx="8595360" cy="4114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B7280"/>
                </a:solidFill>
              </a:defRPr>
            </a:pPr>
            <a:r>
              <a:rPr/>
              <a:t>Tentpoles are 6-week windows of concentrated spend. Always-on tracks deliver baseline reach and frequency through the year.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Integrated Campaign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7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rPr/>
              <a:t>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Pipeline contribution and ROI by quarter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Integrated Campaign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8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rPr/>
              <a:t>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What I need from this committee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5321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rIns="228600" tIns="228600" bIns="228600">
            <a:normAutofit/>
          </a:bodyPr>
          <a:lstStyle/>
          <a:p>
            <a:pPr>
              <a:defRPr sz="1700" b="1">
                <a:solidFill>
                  <a:srgbClr val="DB2777"/>
                </a:solidFill>
                <a:latin typeface="Inter"/>
              </a:defRPr>
            </a:pPr>
            <a:r>
              <a:rPr/>
              <a:t>Approve $84M FY27 budget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</a:defRPr>
            </a:pPr>
            <a:r>
              <a:rPr/>
              <a:t>+9% YoY. Largest reallocation is from print to CTV and creator network.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5321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rIns="228600" tIns="228600" bIns="228600">
            <a:normAutofit/>
          </a:bodyPr>
          <a:lstStyle/>
          <a:p>
            <a:pPr>
              <a:defRPr sz="1700" b="1">
                <a:solidFill>
                  <a:srgbClr val="DB2777"/>
                </a:solidFill>
                <a:latin typeface="Inter"/>
              </a:defRPr>
            </a:pPr>
            <a:r>
              <a:rPr/>
              <a:t>Endorse the brand platform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</a:defRPr>
            </a:pPr>
            <a:r>
              <a:rPr/>
              <a:t>'Made for the movers' — public launch May 22 at Atlas conference.</a:t>
            </a:r>
          </a:p>
        </p:txBody>
      </p:sp>
      <p:sp>
        <p:nvSpPr>
          <p:cNvPr id="8" name="Oval 7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5321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rIns="228600" tIns="228600" bIns="228600">
            <a:normAutofit/>
          </a:bodyPr>
          <a:lstStyle/>
          <a:p>
            <a:pPr>
              <a:defRPr sz="1700" b="1">
                <a:solidFill>
                  <a:srgbClr val="DB2777"/>
                </a:solidFill>
                <a:latin typeface="Inter"/>
              </a:defRPr>
            </a:pPr>
            <a:r>
              <a:rPr/>
              <a:t>Co-anchor the launch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</a:defRPr>
            </a:pPr>
            <a:r>
              <a:rPr/>
              <a:t>CEO keynote at Atlas; CFO interview in Forbes Q3.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94760"/>
            <a:ext cx="55321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rIns="228600" tIns="228600" bIns="228600">
            <a:normAutofit/>
          </a:bodyPr>
          <a:lstStyle/>
          <a:p>
            <a:pPr>
              <a:defRPr sz="1700" b="1">
                <a:solidFill>
                  <a:srgbClr val="DB2777"/>
                </a:solidFill>
                <a:latin typeface="Inter"/>
              </a:defRPr>
            </a:pPr>
            <a:r>
              <a:rPr/>
              <a:t>Vertical SVPs partner on tentpoles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</a:defRPr>
            </a:pPr>
            <a:r>
              <a:rPr/>
              <a:t>Joint plans for Q2 Atlas, Q3 Industrial summit, Q4 demand wave.</a:t>
            </a:r>
          </a:p>
        </p:txBody>
      </p:sp>
      <p:sp>
        <p:nvSpPr>
          <p:cNvPr id="12" name="Oval 11"/>
          <p:cNvSpPr/>
          <p:nvPr/>
        </p:nvSpPr>
        <p:spPr>
          <a:xfrm>
            <a:off x="6446520" y="4023360"/>
            <a:ext cx="457200" cy="4572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Integrated Campaign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9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2777"/>
              </a:gs>
              <a:gs pos="100000">
                <a:srgbClr val="0F17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6000" b="1" i="0">
                <a:latin typeface="Inter"/>
              </a:rPr>
              <a:t>Movers, this is for you.</a:t>
            </a:r>
            <a:endParaRPr sz="6000" b="1" i="0"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06B6D4"/>
                </a:solidFill>
              </a:defRPr>
            </a:pPr>
            <a:r>
              <a:rPr sz="2200" b="0" i="0">
                <a:latin typeface="Inter"/>
              </a:rPr>
              <a:t>Approve the $84M investment for FY27. Let's go win the consideration set.</a:t>
            </a:r>
            <a:endParaRPr sz="2200" b="0" i="0">
              <a:latin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41848" y="4114800"/>
            <a:ext cx="9144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