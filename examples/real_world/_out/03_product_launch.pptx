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Atlas 4.0 — measured improvements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Atlas 3.6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Sheet1!$A$2:$A$5</c:f>
              <c:strCache>
                <c:ptCount val="4"/>
                <c:pt idx="0">
                  <c:v>MTTR (min)</c:v>
                </c:pt>
                <c:pt idx="1">
                  <c:v>Policy eval p95 (ms)</c:v>
                </c:pt>
                <c:pt idx="2">
                  <c:v>API throughput (req/s)</c:v>
                </c:pt>
                <c:pt idx="3">
                  <c:v>Cloud spend savings (%)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420</c:v>
                </c:pt>
                <c:pt idx="2">
                  <c:v>9000</c:v>
                </c:pt>
                <c:pt idx="3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Atlas 4.0</c:v>
                </c:pt>
              </c:strCache>
            </c:strRef>
          </c:tx>
          <c:spPr>
            <a:solidFill>
              <a:srgbClr val="22D3EE"/>
            </a:solidFill>
          </c:spPr>
          <c:cat>
            <c:strRef>
              <c:f>Sheet1!$A$2:$A$5</c:f>
              <c:strCache>
                <c:ptCount val="4"/>
                <c:pt idx="0">
                  <c:v>MTTR (min)</c:v>
                </c:pt>
                <c:pt idx="1">
                  <c:v>Policy eval p95 (ms)</c:v>
                </c:pt>
                <c:pt idx="2">
                  <c:v>API throughput (req/s)</c:v>
                </c:pt>
                <c:pt idx="3">
                  <c:v>Cloud spend savings (%)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90</c:v>
                </c:pt>
                <c:pt idx="2">
                  <c:v>24000</c:v>
                </c:pt>
                <c:pt idx="3">
                  <c:v>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Industry median</c:v>
                </c:pt>
              </c:strCache>
            </c:strRef>
          </c:tx>
          <c:spPr>
            <a:solidFill>
              <a:srgbClr val="F472B6"/>
            </a:solidFill>
          </c:spPr>
          <c:cat>
            <c:strRef>
              <c:f>Sheet1!$A$2:$A$5</c:f>
              <c:strCache>
                <c:ptCount val="4"/>
                <c:pt idx="0">
                  <c:v>MTTR (min)</c:v>
                </c:pt>
                <c:pt idx="1">
                  <c:v>Policy eval p95 (ms)</c:v>
                </c:pt>
                <c:pt idx="2">
                  <c:v>API throughput (req/s)</c:v>
                </c:pt>
                <c:pt idx="3">
                  <c:v>Cloud spend savings (%)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52</c:v>
                </c:pt>
                <c:pt idx="1">
                  <c:v>510</c:v>
                </c:pt>
                <c:pt idx="2">
                  <c:v>7800</c:v>
                </c:pt>
                <c:pt idx="3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B1020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  <a:latin typeface="Inter"/>
              </a:defRPr>
            </a:pPr>
            <a:r>
              <a:rPr/>
              <a:t>ATLAS CLOUD CONSOLE 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297680" cy="2926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4400" b="1" i="0">
                <a:latin typeface="Inter"/>
              </a:rPr>
              <a:t>One console.</a:t>
            </a:r>
            <a:endParaRPr sz="4400" b="1" i="0">
              <a:latin typeface="Inter"/>
            </a:endParaRPr>
          </a:p>
          <a:p>
            <a:r>
              <a:rPr sz="4400" b="1" i="0">
                <a:latin typeface="Inter"/>
              </a:rPr>
              <a:t>Every cloud.</a:t>
            </a:r>
            <a:endParaRPr sz="4400" b="1" i="0">
              <a:latin typeface="Inter"/>
            </a:endParaRPr>
          </a:p>
          <a:p>
            <a:r>
              <a:rPr sz="4400" b="1" i="0">
                <a:latin typeface="Inter"/>
              </a:rPr>
              <a:t>Any scale.</a:t>
            </a:r>
            <a:endParaRPr sz="4400" b="1" i="0"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377440"/>
            <a:ext cx="621792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B1020"/>
                </a:solidFill>
              </a:defRPr>
            </a:pPr>
            <a:r>
              <a:rPr sz="2800" b="0" i="0">
                <a:latin typeface="Inter"/>
              </a:rPr>
              <a:t>The unified operations plane for multi-cloud infrastructure — now with autonomous remediation, FinOps, and policy-as-code built in.</a:t>
            </a:r>
            <a:endParaRPr sz="2800" b="0" i="0"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530352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020"/>
                </a:solidFill>
                <a:latin typeface="Inter"/>
              </a:defRPr>
            </a:pPr>
            <a:r>
              <a:rPr/>
              <a:t>Priya Ramachandran, SVP Product</a:t>
            </a:r>
          </a:p>
          <a:p>
            <a:pPr>
              <a:defRPr sz="1200">
                <a:solidFill>
                  <a:srgbClr val="6B7280"/>
                </a:solidFill>
                <a:latin typeface="Inter"/>
              </a:defRPr>
            </a:pPr>
            <a:r>
              <a:rPr/>
              <a:t>Worldwide Launch  •  May 14, 2026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Inter"/>
              </a:defRPr>
            </a:pPr>
            <a:r>
              <a:rPr/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B1020"/>
                </a:solidFill>
              </a:defRPr>
            </a:pPr>
            <a:r>
              <a:rPr sz="3200" b="1" i="0">
                <a:latin typeface="Inter"/>
              </a:rPr>
              <a:t>Operations teams are drowning in tools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69748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28600" bIns="203200"/>
          <a:lstStyle/>
          <a:p>
            <a:pPr>
              <a:defRPr sz="4000" b="1">
                <a:solidFill>
                  <a:srgbClr val="7C3AED"/>
                </a:solidFill>
                <a:latin typeface="Inter"/>
              </a:defRPr>
            </a:pPr>
            <a:r>
              <a:rPr/>
              <a:t>47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  <a:latin typeface="Inter"/>
              </a:defRPr>
            </a:pPr>
            <a:r>
              <a:rPr/>
              <a:t>average tools per platform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0712" y="1783080"/>
            <a:ext cx="269748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28600" bIns="203200"/>
          <a:lstStyle/>
          <a:p>
            <a:pPr>
              <a:defRPr sz="4000" b="1">
                <a:solidFill>
                  <a:srgbClr val="22D3EE"/>
                </a:solidFill>
                <a:latin typeface="Inter"/>
              </a:defRPr>
            </a:pPr>
            <a:r>
              <a:rPr/>
              <a:t>31%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  <a:latin typeface="Inter"/>
              </a:defRPr>
            </a:pPr>
            <a:r>
              <a:rPr/>
              <a:t>of incident time spent context-switching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783080"/>
            <a:ext cx="269748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28600" bIns="203200"/>
          <a:lstStyle/>
          <a:p>
            <a:pPr>
              <a:defRPr sz="4000" b="1">
                <a:solidFill>
                  <a:srgbClr val="F472B6"/>
                </a:solidFill>
                <a:latin typeface="Inter"/>
              </a:defRPr>
            </a:pPr>
            <a:r>
              <a:rPr/>
              <a:t>$84B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  <a:latin typeface="Inter"/>
              </a:defRPr>
            </a:pPr>
            <a:r>
              <a:rPr/>
              <a:t>wasted cloud spend industry-wide in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34856" y="1783080"/>
            <a:ext cx="269748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28600" bIns="203200"/>
          <a:lstStyle/>
          <a:p>
            <a:pPr>
              <a:defRPr sz="4000" b="1">
                <a:solidFill>
                  <a:srgbClr val="10B981"/>
                </a:solidFill>
                <a:latin typeface="Inter"/>
              </a:defRPr>
            </a:pPr>
            <a:r>
              <a:rPr/>
              <a:t>4 of 5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  <a:latin typeface="Inter"/>
              </a:defRPr>
            </a:pPr>
            <a:r>
              <a:rPr/>
              <a:t>engineers report alert fatigue weekly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B1020"/>
                </a:solidFill>
              </a:defRPr>
            </a:pPr>
            <a:r>
              <a:rPr sz="1800" b="0" i="0">
                <a:latin typeface="Inter"/>
              </a:rPr>
              <a:t>The result: outages get longer, budgets get cut, and best engineers leave. Teams need a single plane that consolidates the noise — without forcing a forklift.</a:t>
            </a:r>
            <a:endParaRPr sz="1800" b="0" i="0">
              <a:latin typeface="Inte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Atlas Cloud Console 4.0  |  Launch Day Briefing  |  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2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22D3EE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/>
              <a:t>INTRODUCING ATLAS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6600" b="1" i="0">
                <a:latin typeface="Inter"/>
              </a:rPr>
              <a:t>Multi-cloud operations.</a:t>
            </a:r>
            <a:endParaRPr sz="6600" b="1" i="0">
              <a:latin typeface="Inter"/>
            </a:endParaRPr>
          </a:p>
          <a:p>
            <a:r>
              <a:rPr sz="6600" b="1" i="0">
                <a:latin typeface="Inter"/>
              </a:rPr>
              <a:t>Now autonomous.</a:t>
            </a:r>
            <a:endParaRPr sz="6600" b="1" i="0"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8FAFC">
                    <a:alpha val="92000"/>
                  </a:srgbClr>
                </a:solidFill>
              </a:defRPr>
            </a:pPr>
            <a:r>
              <a:rPr sz="2000" b="0" i="0">
                <a:latin typeface="Inter"/>
              </a:rPr>
              <a:t>A unified plane for AWS, Azure, GCP, and on-prem. Built on an open agent runtime and a policy graph your platform team already knows.</a:t>
            </a:r>
            <a:endParaRPr sz="2000" b="0" i="0">
              <a:latin typeface="Inter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12064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rPr/>
              <a:t>Autonomous remediation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512064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rPr/>
              <a:t>FinOps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12064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rPr/>
              <a:t>Policy-as-code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512064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rPr/>
              <a:t>Open agent runtime</a:t>
            </a:r>
          </a:p>
        </p:txBody>
      </p:sp>
    </p:spTree>
  </p:cSld>
  <p:clrMapOvr>
    <a:masterClrMapping/>
  </p:clrMapOvr>
  <p:transition xmlns:ns0="http://schemas.microsoft.com/office/powerpoint/2010/main" ns0:dur="1200">
    <ns0:morp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Inter"/>
              </a:defRPr>
            </a:pPr>
            <a:r>
              <a:rPr/>
              <a:t>WHAT'S NEW IN 4.0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B1020"/>
                </a:solidFill>
              </a:defRPr>
            </a:pPr>
            <a:r>
              <a:rPr sz="3200" b="1" i="0">
                <a:latin typeface="Inter"/>
              </a:rPr>
              <a:t>Six capabilities your platform team will love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2800">
                <a:solidFill>
                  <a:srgbClr val="7C3AED"/>
                </a:solidFill>
              </a:defRPr>
            </a:pPr>
            <a:r>
              <a:rPr/>
              <a:t>⚡</a:t>
            </a:r>
          </a:p>
          <a:p>
            <a:pPr>
              <a:spcBef>
                <a:spcPts val="400"/>
              </a:spcBef>
              <a:defRPr sz="1600" b="1">
                <a:solidFill>
                  <a:srgbClr val="0B1020"/>
                </a:solidFill>
                <a:latin typeface="Inter"/>
              </a:defRPr>
            </a:pPr>
            <a:r>
              <a:rPr/>
              <a:t>Autonomous remediation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Closed-loop incident response. Detects, decides, and fixes — humans approve, never 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2800">
                <a:solidFill>
                  <a:srgbClr val="7C3AED"/>
                </a:solidFill>
              </a:defRPr>
            </a:pPr>
            <a:r>
              <a:rPr/>
              <a:t>📊</a:t>
            </a:r>
          </a:p>
          <a:p>
            <a:pPr>
              <a:spcBef>
                <a:spcPts val="400"/>
              </a:spcBef>
              <a:defRPr sz="1600" b="1">
                <a:solidFill>
                  <a:srgbClr val="0B1020"/>
                </a:solidFill>
                <a:latin typeface="Inter"/>
              </a:defRPr>
            </a:pPr>
            <a:r>
              <a:rPr/>
              <a:t>FinOps insights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Per-team, per-service spend with budget guardrails. Cuts cloud bills by 22% on average.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2800">
                <a:solidFill>
                  <a:srgbClr val="7C3AED"/>
                </a:solidFill>
              </a:defRPr>
            </a:pPr>
            <a:r>
              <a:rPr/>
              <a:t>📜</a:t>
            </a:r>
          </a:p>
          <a:p>
            <a:pPr>
              <a:spcBef>
                <a:spcPts val="400"/>
              </a:spcBef>
              <a:defRPr sz="1600" b="1">
                <a:solidFill>
                  <a:srgbClr val="0B1020"/>
                </a:solidFill>
                <a:latin typeface="Inter"/>
              </a:defRPr>
            </a:pPr>
            <a:r>
              <a:rPr/>
              <a:t>Policy-as-code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Declarative guardrails authored in Rego or CUE. Continuously enforced across every cloud.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6908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2800">
                <a:solidFill>
                  <a:srgbClr val="7C3AED"/>
                </a:solidFill>
              </a:defRPr>
            </a:pPr>
            <a:r>
              <a:rPr/>
              <a:t>🔌</a:t>
            </a:r>
          </a:p>
          <a:p>
            <a:pPr>
              <a:spcBef>
                <a:spcPts val="400"/>
              </a:spcBef>
              <a:defRPr sz="1600" b="1">
                <a:solidFill>
                  <a:srgbClr val="0B1020"/>
                </a:solidFill>
                <a:latin typeface="Inter"/>
              </a:defRPr>
            </a:pPr>
            <a:r>
              <a:rPr/>
              <a:t>Open agent runtime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Bring-your-own runners on Kubernetes, ECS, or bare-metal. No SDK lock-in. Apache 2.0.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6908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2800">
                <a:solidFill>
                  <a:srgbClr val="7C3AED"/>
                </a:solidFill>
              </a:defRPr>
            </a:pPr>
            <a:r>
              <a:rPr/>
              <a:t>🔒</a:t>
            </a:r>
          </a:p>
          <a:p>
            <a:pPr>
              <a:spcBef>
                <a:spcPts val="400"/>
              </a:spcBef>
              <a:defRPr sz="1600" b="1">
                <a:solidFill>
                  <a:srgbClr val="0B1020"/>
                </a:solidFill>
                <a:latin typeface="Inter"/>
              </a:defRPr>
            </a:pPr>
            <a:r>
              <a:rPr/>
              <a:t>Sovereign deployments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FedRAMP High, EU sovereign, and dedicated tenant tiers — same console, isolated control plane.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06908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2800">
                <a:solidFill>
                  <a:srgbClr val="7C3AED"/>
                </a:solidFill>
              </a:defRPr>
            </a:pPr>
            <a:r>
              <a:rPr/>
              <a:t>🔭</a:t>
            </a:r>
          </a:p>
          <a:p>
            <a:pPr>
              <a:spcBef>
                <a:spcPts val="400"/>
              </a:spcBef>
              <a:defRPr sz="1600" b="1">
                <a:solidFill>
                  <a:srgbClr val="0B1020"/>
                </a:solidFill>
                <a:latin typeface="Inter"/>
              </a:defRPr>
            </a:pPr>
            <a:r>
              <a:rPr/>
              <a:t>Unified observability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OpenTelemetry-native. Native ingest from Datadog, New Relic, and Prometheus — no re-instrumentation.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Atlas Cloud Console 4.0  |  Launch Day Briefing  | 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4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7C3AED"/>
                </a:solidFill>
                <a:latin typeface="Inter"/>
              </a:rPr>
              <a:t>What customers achieve in 90 days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602153" cy="1737360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7C3AED"/>
                </a:solidFill>
                <a:latin typeface="Inter"/>
              </a:rPr>
              <a:t>−74%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Mean time to remediate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F4444"/>
                </a:solidFill>
                <a:latin typeface="Inter"/>
              </a:rPr>
              <a:t>−74%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1645920"/>
            <a:ext cx="2602153" cy="1737360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79393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7C3AED"/>
                </a:solidFill>
                <a:latin typeface="Inter"/>
              </a:rPr>
              <a:t>−22%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9393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Cloud spend optimised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9393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F4444"/>
                </a:solidFill>
                <a:latin typeface="Inter"/>
              </a:rPr>
              <a:t>−22%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6" y="1645920"/>
            <a:ext cx="2602153" cy="1737360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0146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7C3AED"/>
                </a:solidFill>
                <a:latin typeface="Inter"/>
              </a:rPr>
              <a:t>−91%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6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Policy violations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6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F4444"/>
                </a:solidFill>
                <a:latin typeface="Inter"/>
              </a:rPr>
              <a:t>−91%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0899" y="1645920"/>
            <a:ext cx="2602153" cy="1737360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40899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7C3AED"/>
                </a:solidFill>
                <a:latin typeface="Inter"/>
              </a:rPr>
              <a:t>+18 wk/yr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0899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Engineer hours saved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0899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Inter"/>
              </a:rPr>
              <a:t>+32%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Atlas Cloud Console 4.0  |  Launch Day Briefing  |  May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5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Inter"/>
              </a:defRPr>
            </a:pPr>
            <a:r>
              <a:rPr/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B1020"/>
                </a:solidFill>
              </a:defRPr>
            </a:pPr>
            <a:r>
              <a:rPr sz="3200" b="1" i="0">
                <a:latin typeface="Inter"/>
              </a:rPr>
              <a:t>Atlas 4.0 benchmarks vs. 3.x and the field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Atlas Cloud Console 4.0  |  Launch Day Briefing  |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6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Inter"/>
              </a:defRPr>
            </a:pPr>
            <a:r>
              <a:rPr/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B1020"/>
                </a:solidFill>
              </a:defRPr>
            </a:pPr>
            <a:r>
              <a:rPr sz="3200" b="1" i="0">
                <a:latin typeface="Inter"/>
              </a:rPr>
              <a:t>How we compare on what matters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988819"/>
                <a:gridCol w="1988819"/>
                <a:gridCol w="1988819"/>
                <a:gridCol w="1988819"/>
              </a:tblGrid>
              <a:tr h="600891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Atlas 4.0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Vendor A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Vendor B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Vendor C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020"/>
                          </a:solidFill>
                        </a:defRPr>
                      </a:pPr>
                      <a:r>
                        <a:t>Multi-cloud parity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✓ Native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AWS-first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020"/>
                          </a:solidFill>
                        </a:defRPr>
                      </a:pPr>
                      <a:r>
                        <a:t>Autonomous remediation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✓ Closed-loop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Suggest-only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Suggest-only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020"/>
                          </a:solidFill>
                        </a:defRPr>
                      </a:pPr>
                      <a:r>
                        <a:t>Policy-as-code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✓ Rego + CUE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Proprietary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Proprietary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✓ Rego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020"/>
                          </a:solidFill>
                        </a:defRPr>
                      </a:pPr>
                      <a:r>
                        <a:t>FedRAMP High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020"/>
                          </a:solidFill>
                        </a:defRPr>
                      </a:pPr>
                      <a:r>
                        <a:t>Open agent runtime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✓ Apache 2.0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020"/>
                          </a:solidFill>
                        </a:defRPr>
                      </a:pPr>
                      <a:r>
                        <a:t>Pricing model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Per-asset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Per-seat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Per-host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Per-seat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Atlas Cloud Console 4.0  |  Launch Day Briefing  |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7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Inter"/>
              </a:defRPr>
            </a:pPr>
            <a:r>
              <a:rPr/>
              <a:t>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B1020"/>
                </a:solidFill>
              </a:defRPr>
            </a:pPr>
            <a:r>
              <a:rPr sz="3200" b="1" i="0">
                <a:latin typeface="Inter"/>
              </a:rPr>
              <a:t>Three editions. Pay for assets, not seats.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703320" cy="4754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3200" bIns="203200">
            <a:normAutofit/>
          </a:bodyPr>
          <a:lstStyle/>
          <a:p>
            <a:pPr>
              <a:defRPr sz="1800" b="1">
                <a:solidFill>
                  <a:srgbClr val="94A3B8"/>
                </a:solidFill>
                <a:latin typeface="Inter"/>
              </a:defRPr>
            </a:pPr>
            <a:r>
              <a:rPr/>
              <a:t>Team</a:t>
            </a:r>
          </a:p>
          <a:p>
            <a:pPr>
              <a:spcBef>
                <a:spcPts val="400"/>
              </a:spcBef>
              <a:defRPr sz="2800" b="1">
                <a:solidFill>
                  <a:srgbClr val="0B1020"/>
                </a:solidFill>
                <a:latin typeface="Inter"/>
              </a:defRPr>
            </a:pPr>
            <a:r>
              <a:rPr/>
              <a:t>Free</a:t>
            </a:r>
          </a:p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Up to 50 assets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Single cloud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Community policies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Slack alerts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Email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703320" cy="4754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3200" bIns="203200">
            <a:normAutofit/>
          </a:bodyPr>
          <a:lstStyle/>
          <a:p>
            <a:pPr>
              <a:defRPr sz="1800" b="1">
                <a:solidFill>
                  <a:srgbClr val="7C3AED"/>
                </a:solidFill>
                <a:latin typeface="Inter"/>
              </a:defRPr>
            </a:pPr>
            <a:r>
              <a:rPr/>
              <a:t>Business</a:t>
            </a:r>
          </a:p>
          <a:p>
            <a:pPr>
              <a:spcBef>
                <a:spcPts val="400"/>
              </a:spcBef>
              <a:defRPr sz="2800" b="1">
                <a:solidFill>
                  <a:srgbClr val="0B1020"/>
                </a:solidFill>
                <a:latin typeface="Inter"/>
              </a:defRPr>
            </a:pPr>
            <a:r>
              <a:rPr/>
              <a:t>$1.20</a:t>
            </a:r>
          </a:p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per asset / month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Multi-cloud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FinOps dashboards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Policy library + custom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Autonomous remediation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24×7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79" y="14173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50800" rIns="50800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/>
              <a:t>MOST POPULAR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554480"/>
            <a:ext cx="3703320" cy="4754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3200" bIns="203200">
            <a:normAutofit/>
          </a:bodyPr>
          <a:lstStyle/>
          <a:p>
            <a:pPr>
              <a:defRPr sz="1800" b="1">
                <a:solidFill>
                  <a:srgbClr val="22D3EE"/>
                </a:solidFill>
                <a:latin typeface="Inter"/>
              </a:defRPr>
            </a:pPr>
            <a:r>
              <a:rPr/>
              <a:t>Enterprise</a:t>
            </a:r>
          </a:p>
          <a:p>
            <a:pPr>
              <a:spcBef>
                <a:spcPts val="400"/>
              </a:spcBef>
              <a:defRPr sz="2800" b="1">
                <a:solidFill>
                  <a:srgbClr val="0B1020"/>
                </a:solidFill>
                <a:latin typeface="Inter"/>
              </a:defRPr>
            </a:pPr>
            <a:r>
              <a:rPr/>
              <a:t>Custom</a:t>
            </a:r>
          </a:p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annual commitment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Sovereign deploys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FedRAMP High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Dedicated SRE pod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Audit logging + SOC integration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99.99% SLA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Atlas Cloud Console 4.0  |  Launch Day Briefing  | 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8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9713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1">
                <a:solidFill>
                  <a:srgbClr val="7C3AED"/>
                </a:solidFill>
                <a:latin typeface="Inter"/>
              </a:rPr>
              <a:t>“Atlas 4.0 is the first product that gave my SRE team back their weekends. We turned three pager-driven processes into one console-driven workflow.”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120640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— Director of Platform Engineering, Global Top-10 Bank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Atlas Cloud Console 4.0  |  Launch Day Briefing  | 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9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B1020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6000" b="1" i="0">
                <a:latin typeface="Inter"/>
              </a:rPr>
              <a:t>Generally available May 14.</a:t>
            </a:r>
            <a:endParaRPr sz="6000" b="1" i="0"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22D3EE"/>
                </a:solidFill>
              </a:defRPr>
            </a:pPr>
            <a:r>
              <a:rPr sz="2200" b="0" i="0">
                <a:latin typeface="Inter"/>
              </a:rPr>
              <a:t>atlas.cloud/launch  |  partner-portal.atlas.cloud  |  #atlas-launch</a:t>
            </a:r>
            <a:endParaRPr sz="2200" b="0" i="0">
              <a:latin typeface="Int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41848" y="4114800"/>
            <a:ext cx="9144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